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5" r:id="rId3"/>
    <p:sldMasterId id="2147483676" r:id="rId4"/>
  </p:sldMasterIdLst>
  <p:notesMasterIdLst>
    <p:notesMasterId r:id="rId5"/>
  </p:notesMasterIdLst>
  <p:sldIdLst>
    <p:sldId id="256" r:id="rId6"/>
    <p:sldId id="257" r:id="rId7"/>
    <p:sldId id="304" r:id="rId67"/>
    <p:sldId id="305" r:id="rId68"/>
    <p:sldId id="306" r:id="rId69"/>
    <p:sldId id="307" r:id="rId70"/>
    <p:sldId id="308" r:id="rId71"/>
    <p:sldId id="309" r:id="rId72"/>
    <p:sldId id="310" r:id="rId73"/>
    <p:sldId id="311" r:id="rId74"/>
    <p:sldId id="312" r:id="rId75"/>
    <p:sldId id="313" r:id="rId76"/>
    <p:sldId id="303" r:id="rId53"/>
  </p:sldIdLst>
  <p:sldSz cy="5143500" cx="9144000"/>
  <p:notesSz cx="6858000" cy="9144000"/>
  <p:embeddedFontLst>
    <p:embeddedFont>
      <p:font typeface="Rubik Medium"/>
      <p:regular r:id="rId54"/>
      <p:bold r:id="rId55"/>
      <p:italic r:id="rId56"/>
      <p:boldItalic r:id="rId57"/>
    </p:embeddedFont>
    <p:embeddedFont>
      <p:font typeface="Rubik Light"/>
      <p:regular r:id="rId58"/>
      <p:bold r:id="rId59"/>
      <p:italic r:id="rId60"/>
      <p:boldItalic r:id="rId61"/>
    </p:embeddedFont>
    <p:embeddedFont>
      <p:font typeface="Arial Black"/>
      <p:regular r:id="rId62"/>
    </p:embeddedFont>
    <p:embeddedFont>
      <p:font typeface="Rubik"/>
      <p:regular r:id="rId63"/>
      <p:bold r:id="rId64"/>
      <p:italic r:id="rId65"/>
      <p:boldItalic r:id="rId6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53" Type="http://schemas.openxmlformats.org/officeDocument/2006/relationships/slide" Target="slides/slide48.xml"/><Relationship Id="rId54" Type="http://schemas.openxmlformats.org/officeDocument/2006/relationships/font" Target="fonts/RubikMedium-regular.fntdata"/><Relationship Id="rId55" Type="http://schemas.openxmlformats.org/officeDocument/2006/relationships/font" Target="fonts/RubikMedium-bold.fntdata"/><Relationship Id="rId56" Type="http://schemas.openxmlformats.org/officeDocument/2006/relationships/font" Target="fonts/RubikMedium-italic.fntdata"/><Relationship Id="rId57" Type="http://schemas.openxmlformats.org/officeDocument/2006/relationships/font" Target="fonts/RubikMedium-boldItalic.fntdata"/><Relationship Id="rId58" Type="http://schemas.openxmlformats.org/officeDocument/2006/relationships/font" Target="fonts/RubikLight-regular.fntdata"/><Relationship Id="rId59" Type="http://schemas.openxmlformats.org/officeDocument/2006/relationships/font" Target="fonts/RubikLight-bold.fntdata"/><Relationship Id="rId60" Type="http://schemas.openxmlformats.org/officeDocument/2006/relationships/font" Target="fonts/RubikLight-italic.fntdata"/><Relationship Id="rId61" Type="http://schemas.openxmlformats.org/officeDocument/2006/relationships/font" Target="fonts/RubikLight-boldItalic.fntdata"/><Relationship Id="rId62" Type="http://schemas.openxmlformats.org/officeDocument/2006/relationships/font" Target="fonts/ArialBlack-regular.fntdata"/><Relationship Id="rId63" Type="http://schemas.openxmlformats.org/officeDocument/2006/relationships/font" Target="fonts/Rubik-regular.fntdata"/><Relationship Id="rId64" Type="http://schemas.openxmlformats.org/officeDocument/2006/relationships/font" Target="fonts/Rubik-bold.fntdata"/><Relationship Id="rId65" Type="http://schemas.openxmlformats.org/officeDocument/2006/relationships/font" Target="fonts/Rubik-italic.fntdata"/><Relationship Id="rId66" Type="http://schemas.openxmlformats.org/officeDocument/2006/relationships/font" Target="fonts/Rubik-boldItalic.fntdata"/><Relationship Id="rId67" Type="http://schemas.openxmlformats.org/officeDocument/2006/relationships/slide" Target="slides/slide49.xml"/><Relationship Id="rId68" Type="http://schemas.openxmlformats.org/officeDocument/2006/relationships/slide" Target="slides/slide50.xml"/><Relationship Id="rId69" Type="http://schemas.openxmlformats.org/officeDocument/2006/relationships/slide" Target="slides/slide51.xml"/><Relationship Id="rId70" Type="http://schemas.openxmlformats.org/officeDocument/2006/relationships/slide" Target="slides/slide52.xml"/><Relationship Id="rId71" Type="http://schemas.openxmlformats.org/officeDocument/2006/relationships/slide" Target="slides/slide53.xml"/><Relationship Id="rId72" Type="http://schemas.openxmlformats.org/officeDocument/2006/relationships/slide" Target="slides/slide54.xml"/><Relationship Id="rId73" Type="http://schemas.openxmlformats.org/officeDocument/2006/relationships/slide" Target="slides/slide55.xml"/><Relationship Id="rId74" Type="http://schemas.openxmlformats.org/officeDocument/2006/relationships/slide" Target="slides/slide56.xml"/><Relationship Id="rId75" Type="http://schemas.openxmlformats.org/officeDocument/2006/relationships/slide" Target="slides/slide57.xml"/><Relationship Id="rId76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7c0fd2437b_2_8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7c0fd2437b_2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7c0fd2437b_2_1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7c0fd2437b_2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7c0fd2437b_2_4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g7c0fd2437b_2_4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hyperlink" Target="http://www.pptmon.com/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www.pptmon.com/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hyperlink" Target="http://www.pptmon.com/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www.pptmon.com/" TargetMode="Externa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hyperlink" Target="http://www.pptmon.com/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www.pptmon.com/" TargetMode="Externa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title">
  <p:cSld name="PPTMON 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4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4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4"/>
          <p:cNvPicPr preferRelativeResize="0"/>
          <p:nvPr/>
        </p:nvPicPr>
        <p:blipFill rotWithShape="1">
          <a:blip r:embed="rId5">
            <a:alphaModFix/>
          </a:blip>
          <a:srcRect b="0" l="19219" r="0" t="0"/>
          <a:stretch/>
        </p:blipFill>
        <p:spPr>
          <a:xfrm>
            <a:off x="0" y="0"/>
            <a:ext cx="738663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PPTMON slide">
  <p:cSld name="1_PPTMON slide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5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5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5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>
            <a:off x="0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 rotWithShape="1">
          <a:blip r:embed="rId5">
            <a:alphaModFix/>
          </a:blip>
          <a:srcRect b="33472" l="47422" r="0" t="55556"/>
          <a:stretch/>
        </p:blipFill>
        <p:spPr>
          <a:xfrm flipH="1">
            <a:off x="4336256" y="4579144"/>
            <a:ext cx="4807744" cy="564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PPTMON slide">
  <p:cSld name="2_PPTMON slid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6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" name="Google Shape;6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6"/>
          <p:cNvPicPr preferRelativeResize="0"/>
          <p:nvPr/>
        </p:nvPicPr>
        <p:blipFill rotWithShape="1">
          <a:blip r:embed="rId5">
            <a:alphaModFix/>
          </a:blip>
          <a:srcRect b="0" l="0" r="50000" t="0"/>
          <a:stretch/>
        </p:blipFill>
        <p:spPr>
          <a:xfrm flipH="1">
            <a:off x="4572000" y="0"/>
            <a:ext cx="4572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PPTMON slide">
  <p:cSld name="3_PPTMON slide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7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17"/>
          <p:cNvPicPr preferRelativeResize="0"/>
          <p:nvPr/>
        </p:nvPicPr>
        <p:blipFill rotWithShape="1">
          <a:blip r:embed="rId5">
            <a:alphaModFix/>
          </a:blip>
          <a:srcRect b="0" l="42422" r="0" t="0"/>
          <a:stretch/>
        </p:blipFill>
        <p:spPr>
          <a:xfrm>
            <a:off x="0" y="0"/>
            <a:ext cx="5264944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7"/>
          <p:cNvPicPr preferRelativeResize="0"/>
          <p:nvPr/>
        </p:nvPicPr>
        <p:blipFill rotWithShape="1">
          <a:blip r:embed="rId5">
            <a:alphaModFix/>
          </a:blip>
          <a:srcRect b="0" l="42422" r="0" t="0"/>
          <a:stretch/>
        </p:blipFill>
        <p:spPr>
          <a:xfrm flipH="1">
            <a:off x="3879056" y="0"/>
            <a:ext cx="526494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PPTMON slide">
  <p:cSld name="4_PPTMON slide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8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8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8"/>
          <p:cNvSpPr/>
          <p:nvPr>
            <p:ph idx="2" type="pic"/>
          </p:nvPr>
        </p:nvSpPr>
        <p:spPr>
          <a:xfrm>
            <a:off x="0" y="1"/>
            <a:ext cx="9144000" cy="25717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5100" lIns="68575" spcFirstLastPara="1" rIns="68575" wrap="square" tIns="6480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74" name="Google Shape;74;p18"/>
          <p:cNvPicPr preferRelativeResize="0"/>
          <p:nvPr/>
        </p:nvPicPr>
        <p:blipFill rotWithShape="1">
          <a:blip r:embed="rId5">
            <a:alphaModFix/>
          </a:blip>
          <a:srcRect b="33472" l="47422" r="0" t="55556"/>
          <a:stretch/>
        </p:blipFill>
        <p:spPr>
          <a:xfrm flipH="1">
            <a:off x="4336256" y="4579144"/>
            <a:ext cx="4807744" cy="564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PPTMON slide">
  <p:cSld name="5_PPTMON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9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>
            <a:off x="0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9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9"/>
          <p:cNvSpPr/>
          <p:nvPr>
            <p:ph idx="2" type="pic"/>
          </p:nvPr>
        </p:nvSpPr>
        <p:spPr>
          <a:xfrm>
            <a:off x="976313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p19"/>
          <p:cNvSpPr/>
          <p:nvPr>
            <p:ph idx="3" type="pic"/>
          </p:nvPr>
        </p:nvSpPr>
        <p:spPr>
          <a:xfrm>
            <a:off x="2833688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9"/>
          <p:cNvSpPr/>
          <p:nvPr>
            <p:ph idx="4" type="pic"/>
          </p:nvPr>
        </p:nvSpPr>
        <p:spPr>
          <a:xfrm>
            <a:off x="4704766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9"/>
          <p:cNvSpPr/>
          <p:nvPr>
            <p:ph idx="5" type="pic"/>
          </p:nvPr>
        </p:nvSpPr>
        <p:spPr>
          <a:xfrm>
            <a:off x="6562139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PPTMON slide">
  <p:cSld name="6_PPTMON slide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0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20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5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PPTMON slide">
  <p:cSld name="8_PPTMON slide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1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p21"/>
          <p:cNvPicPr preferRelativeResize="0"/>
          <p:nvPr/>
        </p:nvPicPr>
        <p:blipFill rotWithShape="1">
          <a:blip r:embed="rId5">
            <a:alphaModFix/>
          </a:blip>
          <a:srcRect b="0" l="32656" r="0" t="0"/>
          <a:stretch/>
        </p:blipFill>
        <p:spPr>
          <a:xfrm flipH="1">
            <a:off x="2986088" y="0"/>
            <a:ext cx="615791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PPTMON slide">
  <p:cSld name="9_PPTMON slid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2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22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>
            <a:off x="0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2"/>
          <p:cNvPicPr preferRelativeResize="0"/>
          <p:nvPr/>
        </p:nvPicPr>
        <p:blipFill rotWithShape="1">
          <a:blip r:embed="rId5">
            <a:alphaModFix/>
          </a:blip>
          <a:srcRect b="33472" l="47422" r="0" t="55556"/>
          <a:stretch/>
        </p:blipFill>
        <p:spPr>
          <a:xfrm>
            <a:off x="0" y="4579144"/>
            <a:ext cx="4807744" cy="564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PPTMON slide">
  <p:cSld name="10_PPTMON slide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3"/>
          <p:cNvPicPr preferRelativeResize="0"/>
          <p:nvPr/>
        </p:nvPicPr>
        <p:blipFill rotWithShape="1">
          <a:blip r:embed="rId2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3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3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3"/>
          <p:cNvSpPr/>
          <p:nvPr>
            <p:ph idx="2" type="pic"/>
          </p:nvPr>
        </p:nvSpPr>
        <p:spPr>
          <a:xfrm>
            <a:off x="881681" y="1606834"/>
            <a:ext cx="1469741" cy="292230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2" name="Google Shape;102;p23"/>
          <p:cNvSpPr/>
          <p:nvPr>
            <p:ph idx="3" type="pic"/>
          </p:nvPr>
        </p:nvSpPr>
        <p:spPr>
          <a:xfrm>
            <a:off x="2983220" y="1606834"/>
            <a:ext cx="1469741" cy="292230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3" name="Google Shape;103;p23"/>
          <p:cNvPicPr preferRelativeResize="0"/>
          <p:nvPr/>
        </p:nvPicPr>
        <p:blipFill rotWithShape="1">
          <a:blip r:embed="rId2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PPTMON slide">
  <p:cSld name="11_PPTMON slid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4"/>
          <p:cNvPicPr preferRelativeResize="0"/>
          <p:nvPr/>
        </p:nvPicPr>
        <p:blipFill rotWithShape="1">
          <a:blip r:embed="rId2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2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4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4"/>
          <p:cNvSpPr/>
          <p:nvPr>
            <p:ph idx="2" type="pic"/>
          </p:nvPr>
        </p:nvSpPr>
        <p:spPr>
          <a:xfrm>
            <a:off x="1132922" y="1178719"/>
            <a:ext cx="2751511" cy="340756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4"/>
          <p:cNvPicPr preferRelativeResize="0"/>
          <p:nvPr/>
        </p:nvPicPr>
        <p:blipFill rotWithShape="1">
          <a:blip r:embed="rId2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PPTMON slide">
  <p:cSld name="12_PPTMON slide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5"/>
          <p:cNvPicPr preferRelativeResize="0"/>
          <p:nvPr/>
        </p:nvPicPr>
        <p:blipFill rotWithShape="1">
          <a:blip r:embed="rId2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5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5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5"/>
          <p:cNvSpPr/>
          <p:nvPr>
            <p:ph idx="2" type="pic"/>
          </p:nvPr>
        </p:nvSpPr>
        <p:spPr>
          <a:xfrm>
            <a:off x="575708" y="1064419"/>
            <a:ext cx="471781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5" name="Google Shape;115;p25"/>
          <p:cNvPicPr preferRelativeResize="0"/>
          <p:nvPr/>
        </p:nvPicPr>
        <p:blipFill rotWithShape="1">
          <a:blip r:embed="rId2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PPTMON slide">
  <p:cSld name="13_PPTMON slide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6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6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custom">
  <p:cSld name="PPTMON custom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7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PPTMON slide">
  <p:cSld name="7_PPTMON slide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p28"/>
          <p:cNvPicPr preferRelativeResize="0"/>
          <p:nvPr/>
        </p:nvPicPr>
        <p:blipFill rotWithShape="1">
          <a:blip r:embed="rId5">
            <a:alphaModFix/>
          </a:blip>
          <a:srcRect b="0" l="32656" r="0" t="0"/>
          <a:stretch/>
        </p:blipFill>
        <p:spPr>
          <a:xfrm>
            <a:off x="0" y="0"/>
            <a:ext cx="615791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slide">
  <p:cSld name="PPTMON slide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9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://www.matematickaakademija.com" TargetMode="External"/><Relationship Id="rId5" Type="http://schemas.openxmlformats.org/officeDocument/2006/relationships/image" Target="../media/image5.png"/><Relationship Id="rId6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Relationship Id="rId3" Type="http://schemas.openxmlformats.org/officeDocument/2006/relationships/hyperlink" Target="https://docs.circom.io/getting-started/installation/#installing-dependencies" TargetMode="External"/><Relationship Id="rId4" Type="http://schemas.openxmlformats.org/officeDocument/2006/relationships/hyperlink" Target="https://github.com/radojevicMihailo/ZK-kurs/blob/master/circom-snarkjs/installation/windows-installation.txt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Relationship Id="rId3" Type="http://schemas.openxmlformats.org/officeDocument/2006/relationships/hyperlink" Target="https://github.com/iden3/snarkjs?tab=readme-ov-file" TargetMode="External"/><Relationship Id="rId4" Type="http://schemas.openxmlformats.org/officeDocument/2006/relationships/hyperlink" Target="https://github.com/privacy-scaling-explorations/perpetualpowersoftau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6592" y="1635768"/>
            <a:ext cx="1885825" cy="18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0"/>
          <p:cNvSpPr txBox="1"/>
          <p:nvPr/>
        </p:nvSpPr>
        <p:spPr>
          <a:xfrm>
            <a:off x="2823450" y="4447075"/>
            <a:ext cx="349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u="sng">
                <a:solidFill>
                  <a:schemeClr val="hlink"/>
                </a:solidFill>
                <a:latin typeface="Arial Black"/>
                <a:ea typeface="Arial Black"/>
                <a:cs typeface="Arial Black"/>
                <a:sym typeface="Arial Black"/>
                <a:hlinkClick r:id="rId4"/>
              </a:rPr>
              <a:t>www.matematickaakademija.com</a:t>
            </a:r>
            <a:endParaRPr>
              <a:solidFill>
                <a:srgbClr val="3C78D8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pic>
        <p:nvPicPr>
          <p:cNvPr id="136" name="Google Shape;136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91518" y="1834863"/>
            <a:ext cx="4812294" cy="16867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03225" y="3257700"/>
            <a:ext cx="2040766" cy="1885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/>
          <p:cNvSpPr/>
          <p:nvPr/>
        </p:nvSpPr>
        <p:spPr>
          <a:xfrm>
            <a:off x="2277699" y="1597288"/>
            <a:ext cx="2928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43" name="Google Shape;143;p31"/>
          <p:cNvSpPr/>
          <p:nvPr/>
        </p:nvSpPr>
        <p:spPr>
          <a:xfrm>
            <a:off x="2277704" y="3884263"/>
            <a:ext cx="3425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44" name="Google Shape;144;p31"/>
          <p:cNvSpPr/>
          <p:nvPr/>
        </p:nvSpPr>
        <p:spPr>
          <a:xfrm>
            <a:off x="2277699" y="2711072"/>
            <a:ext cx="2928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45" name="Google Shape;145;p31"/>
          <p:cNvSpPr/>
          <p:nvPr/>
        </p:nvSpPr>
        <p:spPr>
          <a:xfrm>
            <a:off x="928500" y="873325"/>
            <a:ext cx="5210700" cy="4031700"/>
          </a:xfrm>
          <a:prstGeom prst="rect">
            <a:avLst/>
          </a:prstGeom>
          <a:solidFill>
            <a:srgbClr val="FFFFFF">
              <a:alpha val="6980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1"/>
          <p:cNvSpPr/>
          <p:nvPr/>
        </p:nvSpPr>
        <p:spPr>
          <a:xfrm>
            <a:off x="1218489" y="1398853"/>
            <a:ext cx="673800" cy="673800"/>
          </a:xfrm>
          <a:prstGeom prst="ellipse">
            <a:avLst/>
          </a:prstGeom>
          <a:solidFill>
            <a:srgbClr val="31B5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1"/>
          <p:cNvSpPr/>
          <p:nvPr/>
        </p:nvSpPr>
        <p:spPr>
          <a:xfrm>
            <a:off x="1218489" y="2314178"/>
            <a:ext cx="673800" cy="673800"/>
          </a:xfrm>
          <a:prstGeom prst="ellipse">
            <a:avLst/>
          </a:prstGeom>
          <a:solidFill>
            <a:srgbClr val="31B5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1"/>
          <p:cNvSpPr/>
          <p:nvPr/>
        </p:nvSpPr>
        <p:spPr>
          <a:xfrm>
            <a:off x="1218489" y="3222203"/>
            <a:ext cx="673800" cy="673800"/>
          </a:xfrm>
          <a:prstGeom prst="ellipse">
            <a:avLst/>
          </a:prstGeom>
          <a:solidFill>
            <a:srgbClr val="31B5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1"/>
          <p:cNvSpPr txBox="1"/>
          <p:nvPr/>
        </p:nvSpPr>
        <p:spPr>
          <a:xfrm>
            <a:off x="821520" y="321788"/>
            <a:ext cx="3905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24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Content</a:t>
            </a:r>
            <a:endParaRPr sz="24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150" name="Google Shape;150;p31"/>
          <p:cNvSpPr/>
          <p:nvPr/>
        </p:nvSpPr>
        <p:spPr>
          <a:xfrm>
            <a:off x="1323200" y="1440550"/>
            <a:ext cx="464400" cy="632100"/>
          </a:xfrm>
          <a:prstGeom prst="mathMinus">
            <a:avLst>
              <a:gd fmla="val 23520" name="adj1"/>
            </a:avLst>
          </a:prstGeom>
          <a:solidFill>
            <a:srgbClr val="FFFFFF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31"/>
          <p:cNvSpPr/>
          <p:nvPr/>
        </p:nvSpPr>
        <p:spPr>
          <a:xfrm>
            <a:off x="1323200" y="2335025"/>
            <a:ext cx="464400" cy="632100"/>
          </a:xfrm>
          <a:prstGeom prst="mathMinus">
            <a:avLst>
              <a:gd fmla="val 23520" name="adj1"/>
            </a:avLst>
          </a:prstGeom>
          <a:solidFill>
            <a:srgbClr val="FFFFFF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1"/>
          <p:cNvSpPr/>
          <p:nvPr/>
        </p:nvSpPr>
        <p:spPr>
          <a:xfrm>
            <a:off x="1323200" y="3229500"/>
            <a:ext cx="464400" cy="632100"/>
          </a:xfrm>
          <a:prstGeom prst="mathMinus">
            <a:avLst>
              <a:gd fmla="val 23520" name="adj1"/>
            </a:avLst>
          </a:prstGeom>
          <a:solidFill>
            <a:srgbClr val="FFFFFF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31"/>
          <p:cNvSpPr txBox="1"/>
          <p:nvPr/>
        </p:nvSpPr>
        <p:spPr>
          <a:xfrm>
            <a:off x="1892300" y="1535638"/>
            <a:ext cx="321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Circom installation</a:t>
            </a:r>
            <a:endParaRPr/>
          </a:p>
        </p:txBody>
      </p:sp>
      <p:sp>
        <p:nvSpPr>
          <p:cNvPr id="154" name="Google Shape;154;p31"/>
          <p:cNvSpPr txBox="1"/>
          <p:nvPr/>
        </p:nvSpPr>
        <p:spPr>
          <a:xfrm>
            <a:off x="1892300" y="2431775"/>
            <a:ext cx="1925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Generating proofs with snarkjs</a:t>
            </a:r>
            <a:endParaRPr/>
          </a:p>
        </p:txBody>
      </p:sp>
      <p:sp>
        <p:nvSpPr>
          <p:cNvPr id="155" name="Google Shape;155;p31"/>
          <p:cNvSpPr txBox="1"/>
          <p:nvPr/>
        </p:nvSpPr>
        <p:spPr>
          <a:xfrm>
            <a:off x="1892300" y="3366300"/>
            <a:ext cx="2268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PLONK vs Groth16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9" name="Google Shape;629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48447" y="605697"/>
            <a:ext cx="1032800" cy="1032774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77"/>
          <p:cNvSpPr txBox="1"/>
          <p:nvPr/>
        </p:nvSpPr>
        <p:spPr>
          <a:xfrm>
            <a:off x="2179576" y="2427450"/>
            <a:ext cx="4932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100">
                <a:solidFill>
                  <a:srgbClr val="3986F7"/>
                </a:solidFill>
                <a:latin typeface="Arial Black"/>
                <a:ea typeface="Arial Black"/>
                <a:cs typeface="Arial Black"/>
                <a:sym typeface="Arial Black"/>
              </a:rPr>
              <a:t>Thank </a:t>
            </a:r>
            <a:r>
              <a:rPr b="1" lang="ko" sz="3100">
                <a:solidFill>
                  <a:srgbClr val="000000"/>
                </a:solidFill>
                <a:latin typeface="Arial Black"/>
                <a:ea typeface="Arial Black"/>
                <a:cs typeface="Arial Black"/>
                <a:sym typeface="Arial Black"/>
              </a:rPr>
              <a:t>you!</a:t>
            </a:r>
            <a:endParaRPr sz="900">
              <a:solidFill>
                <a:srgbClr val="000000"/>
              </a:solidFill>
            </a:endParaRPr>
          </a:p>
        </p:txBody>
      </p:sp>
      <p:pic>
        <p:nvPicPr>
          <p:cNvPr id="631" name="Google Shape;631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6900" y="3551464"/>
            <a:ext cx="1117649" cy="103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Circom installation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macOS / Linux card"/>
          <p:cNvSpPr/>
          <p:nvPr/>
        </p:nvSpPr>
        <p:spPr>
          <a:xfrm>
            <a:off x="457200" y="1234440"/>
            <a:ext cx="4023360" cy="2834640"/>
          </a:xfrm>
          <a:prstGeom prst="roundRect">
            <a:avLst>
              <a:gd name="adj" fmla="val 387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640080" y="1344168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1078992" y="1344168"/>
            <a:ext cx="3200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macOS / Linux</a:t>
            </a:r>
          </a:p>
        </p:txBody>
      </p:sp>
      <p:sp>
        <p:nvSpPr>
          <p:cNvPr id="595" name="macOS / Linux commands background"/>
          <p:cNvSpPr/>
          <p:nvPr/>
        </p:nvSpPr>
        <p:spPr>
          <a:xfrm>
            <a:off x="640080" y="1801368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macOS / Linux commands"/>
          <p:cNvSpPr txBox="1"/>
          <p:nvPr/>
        </p:nvSpPr>
        <p:spPr>
          <a:xfrm>
            <a:off x="777240" y="1911095"/>
            <a:ext cx="3383280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1. Rust toolchain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curl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proto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'=https'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tlsv1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\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https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sh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rustup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sSf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|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sh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2. build &amp; install circom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git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clone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https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github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iden3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git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cd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cargo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build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release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cargo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path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circom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3. snarkjs + check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npm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snarkjs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help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640080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Guide: </a:t>
            </a:r>
            <a:r>
              <a:rPr sz="11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3"/>
              </a:rPr>
              <a:t>docs.circom.io  ·  Installation</a:t>
            </a:r>
          </a:p>
        </p:txBody>
      </p:sp>
      <p:sp>
        <p:nvSpPr>
          <p:cNvPr id="598" name="Windows  (PowerShell) card"/>
          <p:cNvSpPr/>
          <p:nvPr/>
        </p:nvSpPr>
        <p:spPr>
          <a:xfrm>
            <a:off x="4663440" y="1234440"/>
            <a:ext cx="4023360" cy="2834640"/>
          </a:xfrm>
          <a:prstGeom prst="roundRect">
            <a:avLst>
              <a:gd name="adj" fmla="val 387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4846320" y="1344168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5285231" y="1344168"/>
            <a:ext cx="3200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Windows  (PowerShell)</a:t>
            </a:r>
          </a:p>
        </p:txBody>
      </p:sp>
      <p:sp>
        <p:nvSpPr>
          <p:cNvPr id="601" name="Windows  (PowerShell) commands background"/>
          <p:cNvSpPr/>
          <p:nvPr/>
        </p:nvSpPr>
        <p:spPr>
          <a:xfrm>
            <a:off x="4846320" y="1801368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Windows  (PowerShell) commands"/>
          <p:cNvSpPr txBox="1"/>
          <p:nvPr/>
        </p:nvSpPr>
        <p:spPr>
          <a:xfrm>
            <a:off x="4983480" y="1911095"/>
            <a:ext cx="3383280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1. Rust: run rustup-init.exe (rustup.rs)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rustup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version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cargo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version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2. install circom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cargo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locked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`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git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https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github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iden3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circom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3. snarkjs + check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npm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snarkjs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help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4. .ps1 scripts are blocked by default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powershell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ExecutionPolicy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Bypass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`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File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\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script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ps1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4846320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Guide: </a:t>
            </a:r>
            <a:r>
              <a:rPr sz="11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4"/>
              </a:rPr>
              <a:t>installation/windows-installation.txt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868680" y="4142232"/>
            <a:ext cx="7818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Prerequisites: Node.js + npm, git. Course examples: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cd circom-snarkjs &amp;&amp; npm install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Process of proving circuits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Oval 591"/>
          <p:cNvSpPr/>
          <p:nvPr/>
        </p:nvSpPr>
        <p:spPr>
          <a:xfrm>
            <a:off x="850392" y="1325880"/>
            <a:ext cx="585216" cy="585216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3" name="Right Arrow 592"/>
          <p:cNvSpPr/>
          <p:nvPr/>
        </p:nvSpPr>
        <p:spPr>
          <a:xfrm>
            <a:off x="15544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4846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Write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484632" y="2331720"/>
            <a:ext cx="1316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circuit.circom</a:t>
            </a:r>
          </a:p>
        </p:txBody>
      </p:sp>
      <p:sp>
        <p:nvSpPr>
          <p:cNvPr id="596" name="Oval 595"/>
          <p:cNvSpPr/>
          <p:nvPr/>
        </p:nvSpPr>
        <p:spPr>
          <a:xfrm>
            <a:off x="2221992" y="1325880"/>
            <a:ext cx="585216" cy="585216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597" name="Right Arrow 596"/>
          <p:cNvSpPr/>
          <p:nvPr/>
        </p:nvSpPr>
        <p:spPr>
          <a:xfrm>
            <a:off x="29260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18562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Compile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1856232" y="2331720"/>
            <a:ext cx="1316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.r1cs  .wasm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.sym</a:t>
            </a:r>
          </a:p>
        </p:txBody>
      </p:sp>
      <p:sp>
        <p:nvSpPr>
          <p:cNvPr id="600" name="Oval 599"/>
          <p:cNvSpPr/>
          <p:nvPr/>
        </p:nvSpPr>
        <p:spPr>
          <a:xfrm>
            <a:off x="3593592" y="1325880"/>
            <a:ext cx="585216" cy="585216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601" name="Right Arrow 600"/>
          <p:cNvSpPr/>
          <p:nvPr/>
        </p:nvSpPr>
        <p:spPr>
          <a:xfrm>
            <a:off x="42976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TextBox 601"/>
          <p:cNvSpPr txBox="1"/>
          <p:nvPr/>
        </p:nvSpPr>
        <p:spPr>
          <a:xfrm>
            <a:off x="32278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Witness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3227832" y="2331720"/>
            <a:ext cx="1316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witness.wtns</a:t>
            </a:r>
          </a:p>
        </p:txBody>
      </p:sp>
      <p:sp>
        <p:nvSpPr>
          <p:cNvPr id="604" name="Oval 603"/>
          <p:cNvSpPr/>
          <p:nvPr/>
        </p:nvSpPr>
        <p:spPr>
          <a:xfrm>
            <a:off x="4965192" y="1325880"/>
            <a:ext cx="585216" cy="585216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605" name="Right Arrow 604"/>
          <p:cNvSpPr/>
          <p:nvPr/>
        </p:nvSpPr>
        <p:spPr>
          <a:xfrm>
            <a:off x="56692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45994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Setup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4599432" y="2331720"/>
            <a:ext cx="1316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.ptau → .zkey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verification_key</a:t>
            </a:r>
          </a:p>
        </p:txBody>
      </p:sp>
      <p:sp>
        <p:nvSpPr>
          <p:cNvPr id="608" name="Oval 607"/>
          <p:cNvSpPr/>
          <p:nvPr/>
        </p:nvSpPr>
        <p:spPr>
          <a:xfrm>
            <a:off x="6336792" y="1325880"/>
            <a:ext cx="585216" cy="585216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609" name="Right Arrow 608"/>
          <p:cNvSpPr/>
          <p:nvPr/>
        </p:nvSpPr>
        <p:spPr>
          <a:xfrm>
            <a:off x="70408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59710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Prove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5971032" y="2331720"/>
            <a:ext cx="1316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proof.json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public.json</a:t>
            </a:r>
          </a:p>
        </p:txBody>
      </p:sp>
      <p:sp>
        <p:nvSpPr>
          <p:cNvPr id="612" name="Oval 611"/>
          <p:cNvSpPr/>
          <p:nvPr/>
        </p:nvSpPr>
        <p:spPr>
          <a:xfrm>
            <a:off x="7708392" y="1325880"/>
            <a:ext cx="585216" cy="585216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6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7342631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7342631" y="2331720"/>
            <a:ext cx="1316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true / false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verifier.sol</a:t>
            </a:r>
          </a:p>
        </p:txBody>
      </p:sp>
      <p:sp>
        <p:nvSpPr>
          <p:cNvPr id="615" name="circom compiler + generated WASM"/>
          <p:cNvSpPr/>
          <p:nvPr/>
        </p:nvSpPr>
        <p:spPr>
          <a:xfrm>
            <a:off x="502920" y="3017520"/>
            <a:ext cx="4023360" cy="1051560"/>
          </a:xfrm>
          <a:prstGeom prst="roundRect">
            <a:avLst>
              <a:gd name="adj" fmla="val 10434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TextBox 615"/>
          <p:cNvSpPr txBox="1"/>
          <p:nvPr/>
        </p:nvSpPr>
        <p:spPr>
          <a:xfrm>
            <a:off x="685800" y="310896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1B5FF"/>
                </a:solidFill>
                <a:latin typeface="Rubik"/>
                <a:ea typeface="Rubik"/>
                <a:cs typeface="Rubik"/>
              </a:rPr>
              <a:t>circom compiler + generated WASM</a:t>
            </a:r>
          </a:p>
          <a:p>
            <a:pPr algn="l"/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Circuit becomes a constraint system (R1CS). The WASM program computes the values of all signals from inputs.json.</a:t>
            </a:r>
          </a:p>
        </p:txBody>
      </p:sp>
      <p:sp>
        <p:nvSpPr>
          <p:cNvPr id="617" name="snarkjs  (Groth16  or  PLONK)"/>
          <p:cNvSpPr/>
          <p:nvPr/>
        </p:nvSpPr>
        <p:spPr>
          <a:xfrm>
            <a:off x="4617720" y="3017520"/>
            <a:ext cx="4023360" cy="1051560"/>
          </a:xfrm>
          <a:prstGeom prst="roundRect">
            <a:avLst>
              <a:gd name="adj" fmla="val 10434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4800600" y="310896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snarkjs  (Groth16  or  PLONK)</a:t>
            </a:r>
          </a:p>
          <a:p>
            <a:pPr algn="l"/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Setup produces proving/verification keys. Prover uses .zkey + witness; verifier needs only the vkey and public signals.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Example: guess the number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circuit.circom background"/>
          <p:cNvSpPr/>
          <p:nvPr/>
        </p:nvSpPr>
        <p:spPr>
          <a:xfrm>
            <a:off x="457200" y="1188720"/>
            <a:ext cx="4343400" cy="2926080"/>
          </a:xfrm>
          <a:prstGeom prst="roundRect">
            <a:avLst>
              <a:gd name="adj" fmla="val 3750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circuit.circom"/>
          <p:cNvSpPr txBox="1"/>
          <p:nvPr/>
        </p:nvSpPr>
        <p:spPr>
          <a:xfrm>
            <a:off x="594360" y="1298448"/>
            <a:ext cx="4069080" cy="2706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pragma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include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".../circuits/poseidon.circom"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include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".../circuits/comparators.circom"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template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guessTheNumber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number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 </a:t>
            </a:r>
            <a:r>
              <a:rPr sz="8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public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solution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8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private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commit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 </a:t>
            </a:r>
            <a:r>
              <a:rPr sz="8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public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salt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   </a:t>
            </a:r>
            <a:r>
              <a:rPr sz="8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private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output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component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Poseidon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solution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salt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commit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component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IsEqual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number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solution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component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main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8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number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commit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guessTheNumber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8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</p:txBody>
      </p:sp>
      <p:sp>
        <p:nvSpPr>
          <p:cNvPr id="594" name="Idea"/>
          <p:cNvSpPr/>
          <p:nvPr/>
        </p:nvSpPr>
        <p:spPr>
          <a:xfrm>
            <a:off x="5029200" y="118872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166360" y="1243584"/>
            <a:ext cx="3383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Secret number hidden behind a Poseidon commitment; prove whether a guess is right without revealing it.</a:t>
            </a:r>
          </a:p>
        </p:txBody>
      </p:sp>
      <p:sp>
        <p:nvSpPr>
          <p:cNvPr id="596" name="Constraint"/>
          <p:cNvSpPr/>
          <p:nvPr/>
        </p:nvSpPr>
        <p:spPr>
          <a:xfrm>
            <a:off x="5029200" y="205740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5166360" y="2112264"/>
            <a:ext cx="3383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Constraint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 === Poseidon(solution, salt)</a:t>
            </a:r>
          </a:p>
        </p:txBody>
      </p:sp>
      <p:sp>
        <p:nvSpPr>
          <p:cNvPr id="598" name="Output"/>
          <p:cNvSpPr/>
          <p:nvPr/>
        </p:nvSpPr>
        <p:spPr>
          <a:xfrm>
            <a:off x="5029200" y="260604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5166360" y="2660904"/>
            <a:ext cx="3383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Output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out = 1  iff  number == solution</a:t>
            </a:r>
          </a:p>
        </p:txBody>
      </p:sp>
      <p:sp>
        <p:nvSpPr>
          <p:cNvPr id="600" name="Operators"/>
          <p:cNvSpPr/>
          <p:nvPr/>
        </p:nvSpPr>
        <p:spPr>
          <a:xfrm>
            <a:off x="5029200" y="3154680"/>
            <a:ext cx="3657600" cy="86868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TextBox 600"/>
          <p:cNvSpPr txBox="1"/>
          <p:nvPr/>
        </p:nvSpPr>
        <p:spPr>
          <a:xfrm>
            <a:off x="5166360" y="3209544"/>
            <a:ext cx="3383280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Operators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&lt;==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  assign + constrain
</a:t>
            </a:r>
            <a:r>
              <a:rPr sz="1100" b="1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===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  constrain only
</a:t>
            </a:r>
            <a:r>
              <a:rPr sz="1100" b="1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&lt;--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  assign only (unsafe alone)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Compile &amp; compute the witness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compile commands background"/>
          <p:cNvSpPr/>
          <p:nvPr/>
        </p:nvSpPr>
        <p:spPr>
          <a:xfrm>
            <a:off x="457200" y="1188720"/>
            <a:ext cx="4754880" cy="2926080"/>
          </a:xfrm>
          <a:prstGeom prst="roundRect">
            <a:avLst>
              <a:gd name="adj" fmla="val 3750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compile commands"/>
          <p:cNvSpPr txBox="1"/>
          <p:nvPr/>
        </p:nvSpPr>
        <p:spPr>
          <a:xfrm>
            <a:off x="594360" y="1298448"/>
            <a:ext cx="4480560" cy="2706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dependencies: circomlib, snarkjs, poseidon-lite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npm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install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private + public inputs -&gt; inputs.json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node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generate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1. compile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wasm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sym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\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output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artifacts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2. compute the witness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cd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artifacts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node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circuit_js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generate_witness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\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circuit_js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wasm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\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witness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wtns</a:t>
            </a:r>
          </a:p>
        </p:txBody>
      </p:sp>
      <p:sp>
        <p:nvSpPr>
          <p:cNvPr id="594" name=".r1cs"/>
          <p:cNvSpPr/>
          <p:nvPr/>
        </p:nvSpPr>
        <p:spPr>
          <a:xfrm>
            <a:off x="5486400" y="1188720"/>
            <a:ext cx="3200400" cy="65836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623560" y="1243584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.r1cs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constraint system (Rank-1 Constraint System)</a:t>
            </a:r>
          </a:p>
        </p:txBody>
      </p:sp>
      <p:sp>
        <p:nvSpPr>
          <p:cNvPr id="596" name=".wasm"/>
          <p:cNvSpPr/>
          <p:nvPr/>
        </p:nvSpPr>
        <p:spPr>
          <a:xfrm>
            <a:off x="5486400" y="1947672"/>
            <a:ext cx="3200400" cy="65836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5623560" y="2002536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.wasm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program that computes every signal from the inputs</a:t>
            </a:r>
          </a:p>
        </p:txBody>
      </p:sp>
      <p:sp>
        <p:nvSpPr>
          <p:cNvPr id="598" name=".sym"/>
          <p:cNvSpPr/>
          <p:nvPr/>
        </p:nvSpPr>
        <p:spPr>
          <a:xfrm>
            <a:off x="5486400" y="2706624"/>
            <a:ext cx="3200400" cy="65836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5623560" y="2761488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.sym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signal names, useful for debugging</a:t>
            </a:r>
          </a:p>
        </p:txBody>
      </p:sp>
      <p:sp>
        <p:nvSpPr>
          <p:cNvPr id="600" name="witness.wtns"/>
          <p:cNvSpPr/>
          <p:nvPr/>
        </p:nvSpPr>
        <p:spPr>
          <a:xfrm>
            <a:off x="5486400" y="3465576"/>
            <a:ext cx="3200400" cy="65836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TextBox 600"/>
          <p:cNvSpPr txBox="1"/>
          <p:nvPr/>
        </p:nvSpPr>
        <p:spPr>
          <a:xfrm>
            <a:off x="5623560" y="3520440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witness.wtns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values of all signals that satisfy the constraints; stays private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Trusted setup: powers of tau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Phase 1  ·  universal"/>
          <p:cNvSpPr/>
          <p:nvPr/>
        </p:nvSpPr>
        <p:spPr>
          <a:xfrm>
            <a:off x="457200" y="1188720"/>
            <a:ext cx="4023360" cy="2926080"/>
          </a:xfrm>
          <a:prstGeom prst="roundRect">
            <a:avLst>
              <a:gd name="adj" fmla="val 375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TextBox 592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1B5FF"/>
                </a:solidFill>
                <a:latin typeface="Rubik"/>
                <a:ea typeface="Rubik"/>
                <a:cs typeface="Rubik"/>
              </a:rPr>
              <a:t>Phase 1  ·  universal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40080" y="1691640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Independent of the circuit, depends only on max size: 2^12 = 4096 constraints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Multi-party ceremony: secure if at least one contributor is honest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Can reuse a public ceremony (perpetual powers of tau)</a:t>
            </a:r>
          </a:p>
        </p:txBody>
      </p:sp>
      <p:sp>
        <p:nvSpPr>
          <p:cNvPr id="595" name="Phase 1  ·  universal commands background"/>
          <p:cNvSpPr/>
          <p:nvPr/>
        </p:nvSpPr>
        <p:spPr>
          <a:xfrm>
            <a:off x="640080" y="2971800"/>
            <a:ext cx="3657600" cy="960120"/>
          </a:xfrm>
          <a:prstGeom prst="roundRect">
            <a:avLst>
              <a:gd name="adj" fmla="val 11428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Phase 1  ·  universal commands"/>
          <p:cNvSpPr txBox="1"/>
          <p:nvPr/>
        </p:nvSpPr>
        <p:spPr>
          <a:xfrm>
            <a:off x="777240" y="3081528"/>
            <a:ext cx="3383280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new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bn128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contribute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beacon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prepare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phase2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</a:p>
        </p:txBody>
      </p:sp>
      <p:sp>
        <p:nvSpPr>
          <p:cNvPr id="597" name="Phase 2  ·  circuit-specific"/>
          <p:cNvSpPr/>
          <p:nvPr/>
        </p:nvSpPr>
        <p:spPr>
          <a:xfrm>
            <a:off x="4663440" y="1188720"/>
            <a:ext cx="4023360" cy="2926080"/>
          </a:xfrm>
          <a:prstGeom prst="roundRect">
            <a:avLst>
              <a:gd name="adj" fmla="val 375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Phase 2  ·  circuit-specific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4846320" y="1691640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Depends on circuit.r1cs, redo it every time the circuit changes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Needed only for Groth16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PLONK skips it: plonk setup uses the phase 1 file directly</a:t>
            </a:r>
          </a:p>
        </p:txBody>
      </p:sp>
      <p:sp>
        <p:nvSpPr>
          <p:cNvPr id="600" name="Phase 2  ·  circuit-specific commands background"/>
          <p:cNvSpPr/>
          <p:nvPr/>
        </p:nvSpPr>
        <p:spPr>
          <a:xfrm>
            <a:off x="4846320" y="2971800"/>
            <a:ext cx="3657600" cy="960120"/>
          </a:xfrm>
          <a:prstGeom prst="roundRect">
            <a:avLst>
              <a:gd name="adj" fmla="val 11428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Phase 2  ·  circuit-specific commands"/>
          <p:cNvSpPr txBox="1"/>
          <p:nvPr/>
        </p:nvSpPr>
        <p:spPr>
          <a:xfrm>
            <a:off x="4983480" y="3081528"/>
            <a:ext cx="3383280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setup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contribute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plonk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setup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822960" y="4206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snarkjs docs: </a:t>
            </a:r>
            <a:r>
              <a:rPr sz="10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3"/>
              </a:rPr>
              <a:t>github.com/iden3/snarkjs</a:t>
            </a:r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·   </a:t>
            </a:r>
            <a:r>
              <a:rPr sz="10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4"/>
              </a:rPr>
              <a:t>perpetual powers of tau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Proving with Groth16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groth16 commands background"/>
          <p:cNvSpPr/>
          <p:nvPr/>
        </p:nvSpPr>
        <p:spPr>
          <a:xfrm>
            <a:off x="457200" y="1188720"/>
            <a:ext cx="8229600" cy="1965960"/>
          </a:xfrm>
          <a:prstGeom prst="roundRect">
            <a:avLst>
              <a:gd name="adj" fmla="val 5581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oth16 commands"/>
          <p:cNvSpPr txBox="1"/>
          <p:nvPr/>
        </p:nvSpPr>
        <p:spPr>
          <a:xfrm>
            <a:off x="594360" y="1298448"/>
            <a:ext cx="7955279" cy="1746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phase 1: reuse a public ceremony -&gt; powersOfTau28_hez_final_12.ptau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phase 2: circuit-specific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setup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powersOfTau28_hez_final_12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circuit_0000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contribute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circuit_0000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name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"mihailo"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export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verificationkey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verification_key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prove &amp; verify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prove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witness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wtns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verification_key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on-chain verifier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export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solidityverifier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verifier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sol</a:t>
            </a:r>
          </a:p>
        </p:txBody>
      </p:sp>
      <p:sp>
        <p:nvSpPr>
          <p:cNvPr id="594" name="proof.json"/>
          <p:cNvSpPr/>
          <p:nvPr/>
        </p:nvSpPr>
        <p:spPr>
          <a:xfrm>
            <a:off x="457200" y="329184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94360" y="3337560"/>
            <a:ext cx="2423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proof.json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pi_a, pi_b, pi_c: only 3 curve points</a:t>
            </a:r>
          </a:p>
        </p:txBody>
      </p:sp>
      <p:sp>
        <p:nvSpPr>
          <p:cNvPr id="596" name="public.json"/>
          <p:cNvSpPr/>
          <p:nvPr/>
        </p:nvSpPr>
        <p:spPr>
          <a:xfrm>
            <a:off x="3246120" y="329184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3383279" y="3337560"/>
            <a:ext cx="2423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public.json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[out, number, commit]</a:t>
            </a:r>
          </a:p>
        </p:txBody>
      </p:sp>
      <p:sp>
        <p:nvSpPr>
          <p:cNvPr id="598" name="verifier.sol"/>
          <p:cNvSpPr/>
          <p:nvPr/>
        </p:nvSpPr>
        <p:spPr>
          <a:xfrm>
            <a:off x="6035040" y="329184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6172200" y="3337560"/>
            <a:ext cx="2423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verifier.sol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Solidity contract that verifies proofs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868680" y="3977639"/>
            <a:ext cx="7818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Full script: circom-snarkjs/script-groth16.sh  (uses npx snarkjs)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Proving with PLONK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plonk commands background"/>
          <p:cNvSpPr/>
          <p:nvPr/>
        </p:nvSpPr>
        <p:spPr>
          <a:xfrm>
            <a:off x="457200" y="1188720"/>
            <a:ext cx="8229600" cy="1965960"/>
          </a:xfrm>
          <a:prstGeom prst="roundRect">
            <a:avLst>
              <a:gd name="adj" fmla="val 5581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plonk commands"/>
          <p:cNvSpPr txBox="1"/>
          <p:nvPr/>
        </p:nvSpPr>
        <p:spPr>
          <a:xfrm>
            <a:off x="594360" y="1298448"/>
            <a:ext cx="7955279" cy="1746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phase 1: our own ceremony (3 contributions + random beacon)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new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bn128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pot12_0000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contribute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pot12_0000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pot12_0001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name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"marija"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beacon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pot12_0003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pot12_beacon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f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prepare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phase2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pot12_beacon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# universal setup: no circuit-specific ceremony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plonk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setup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pot12_final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plonk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prove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witness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wtns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plonk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verification_key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</a:p>
        </p:txBody>
      </p:sp>
      <p:sp>
        <p:nvSpPr>
          <p:cNvPr id="594" name="random beacon"/>
          <p:cNvSpPr/>
          <p:nvPr/>
        </p:nvSpPr>
        <p:spPr>
          <a:xfrm>
            <a:off x="457200" y="329184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94360" y="3337560"/>
            <a:ext cx="2423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random beacon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public randomness, e.g. future block hash</a:t>
            </a:r>
          </a:p>
        </p:txBody>
      </p:sp>
      <p:sp>
        <p:nvSpPr>
          <p:cNvPr id="596" name="prepare phase2"/>
          <p:cNvSpPr/>
          <p:nvPr/>
        </p:nvSpPr>
        <p:spPr>
          <a:xfrm>
            <a:off x="3246120" y="329184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3383279" y="3337560"/>
            <a:ext cx="2423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prepare phase2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evaluates Lagrange polynomials at tau</a:t>
            </a:r>
          </a:p>
        </p:txBody>
      </p:sp>
      <p:sp>
        <p:nvSpPr>
          <p:cNvPr id="598" name="proof.json"/>
          <p:cNvSpPr/>
          <p:nvPr/>
        </p:nvSpPr>
        <p:spPr>
          <a:xfrm>
            <a:off x="6035040" y="329184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6172200" y="3337560"/>
            <a:ext cx="2423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986F7"/>
                </a:solidFill>
                <a:latin typeface="Courier New"/>
                <a:ea typeface="Courier New"/>
                <a:cs typeface="Courier New"/>
              </a:rPr>
              <a:t>proof.json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9 curve points + 6 field elements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868680" y="3977639"/>
            <a:ext cx="7818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Full script: circom-snarkjs/script-plonk.sh  (vkey export same as Groth16)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Proving in JavaScript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proving-groth16.js background"/>
          <p:cNvSpPr/>
          <p:nvPr/>
        </p:nvSpPr>
        <p:spPr>
          <a:xfrm>
            <a:off x="457200" y="1188720"/>
            <a:ext cx="5257800" cy="2926080"/>
          </a:xfrm>
          <a:prstGeom prst="roundRect">
            <a:avLst>
              <a:gd name="adj" fmla="val 3750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proving-groth16.js"/>
          <p:cNvSpPr txBox="1"/>
          <p:nvPr/>
        </p:nvSpPr>
        <p:spPr>
          <a:xfrm>
            <a:off x="594360" y="1298448"/>
            <a:ext cx="4983480" cy="2706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readFileSync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require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"fs"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require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"snarkjs"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or plonk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parse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readFileSync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"inputs.json"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witness + proof in one call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publicSignals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await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fullProve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"./artifacts-groth16/circuit_js/circuit.wasm"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"./artifacts-groth16/circuit_final.zkey"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vKey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parse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readFileSync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"./artifacts-groth16/verification_key.json"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ok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await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verify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vKey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publicSignals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console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log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ok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?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"Verification OK"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F5C26B"/>
                </a:solidFill>
                <a:latin typeface="Courier New"/>
                <a:ea typeface="Courier New"/>
                <a:cs typeface="Courier New"/>
              </a:rPr>
              <a:t>"Invalid proof"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</p:txBody>
      </p:sp>
      <p:sp>
        <p:nvSpPr>
          <p:cNvPr id="594" name="fullProve"/>
          <p:cNvSpPr/>
          <p:nvPr/>
        </p:nvSpPr>
        <p:spPr>
          <a:xfrm>
            <a:off x="5943600" y="1188720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6080760" y="1261872"/>
            <a:ext cx="2514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fullProve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computes the witness and the proof in one step</a:t>
            </a:r>
          </a:p>
        </p:txBody>
      </p:sp>
      <p:sp>
        <p:nvSpPr>
          <p:cNvPr id="596" name="Same API"/>
          <p:cNvSpPr/>
          <p:nvPr/>
        </p:nvSpPr>
        <p:spPr>
          <a:xfrm>
            <a:off x="5943600" y="2217420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6080760" y="2290572"/>
            <a:ext cx="2514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Same API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plonk.fullProve / plonk.verify with the PLONK artifacts</a:t>
            </a:r>
          </a:p>
        </p:txBody>
      </p:sp>
      <p:sp>
        <p:nvSpPr>
          <p:cNvPr id="598" name="Client-side"/>
          <p:cNvSpPr/>
          <p:nvPr/>
        </p:nvSpPr>
        <p:spPr>
          <a:xfrm>
            <a:off x="5943600" y="3246120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6080760" y="3319272"/>
            <a:ext cx="2514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Client-side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runs in the browser: private inputs never leave the user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Buses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TextBox 591"/>
          <p:cNvSpPr txBox="1"/>
          <p:nvPr/>
        </p:nvSpPr>
        <p:spPr>
          <a:xfrm>
            <a:off x="457200" y="1188720"/>
            <a:ext cx="39319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182880">
              <a:spcAft>
                <a:spcPts val="8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Circom 2.2.0 introduces </a:t>
            </a:r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signal buses</a:t>
            </a: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.</a:t>
            </a:r>
          </a:p>
          <a:p>
            <a:pPr algn="l" marL="201168" indent="-182880">
              <a:spcAft>
                <a:spcPts val="8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A bus groups related signals under one name, like a struct in C++.</a:t>
            </a:r>
          </a:p>
          <a:p>
            <a:pPr algn="l" marL="201168" indent="-182880">
              <a:spcAft>
                <a:spcPts val="8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Buses can contain other buses, but not recursively.</a:t>
            </a:r>
          </a:p>
          <a:p>
            <a:pPr algn="l" marL="201168" indent="-182880">
              <a:spcAft>
                <a:spcPts val="8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Buses can have parameters, known at compile time, to define arrays or nested buses.</a:t>
            </a:r>
          </a:p>
        </p:txBody>
      </p:sp>
      <p:sp>
        <p:nvSpPr>
          <p:cNvPr id="593" name="buses-example.circom background"/>
          <p:cNvSpPr/>
          <p:nvPr/>
        </p:nvSpPr>
        <p:spPr>
          <a:xfrm>
            <a:off x="4572000" y="1188720"/>
            <a:ext cx="4114800" cy="2926080"/>
          </a:xfrm>
          <a:prstGeom prst="roundRect">
            <a:avLst>
              <a:gd name="adj" fmla="val 3750"/>
            </a:avLst>
          </a:prstGeom>
          <a:solidFill>
            <a:srgbClr val="06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buses-example.circom"/>
          <p:cNvSpPr txBox="1"/>
          <p:nvPr/>
        </p:nvSpPr>
        <p:spPr>
          <a:xfrm>
            <a:off x="4709160" y="1298448"/>
            <a:ext cx="3840480" cy="2706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pragma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bus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Point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x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y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template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PointHasher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Point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5CC8FF"/>
                </a:solidFill>
                <a:latin typeface="Courier New"/>
                <a:ea typeface="Courier New"/>
                <a:cs typeface="Courier New"/>
              </a:rPr>
              <a:t>output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hash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hash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Poseidon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3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x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y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z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inside Main():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Point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myPoint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myPoint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x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inX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900" b="0" i="0">
                <a:solidFill>
                  <a:srgbClr val="8A9BB4"/>
                </a:solidFill>
                <a:latin typeface="Courier New"/>
                <a:ea typeface="Courier New"/>
                <a:cs typeface="Courier New"/>
              </a:rPr>
              <a:t>// ... y, z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hash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PointHasher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myPoint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900" b="0" i="0">
                <a:solidFill>
                  <a:srgbClr val="E6EEF8"/>
                </a:solidFill>
                <a:latin typeface="Courier New"/>
                <a:ea typeface="Courier New"/>
                <a:cs typeface="Courier New"/>
              </a:rPr>
              <a:t>;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PLONK vs Groth16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PLONK header"/>
          <p:cNvSpPr/>
          <p:nvPr/>
        </p:nvSpPr>
        <p:spPr>
          <a:xfrm>
            <a:off x="2286000" y="1188720"/>
            <a:ext cx="3154680" cy="411480"/>
          </a:xfrm>
          <a:prstGeom prst="roundRect">
            <a:avLst>
              <a:gd name="adj" fmla="val 12000"/>
            </a:avLst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oth16 header"/>
          <p:cNvSpPr/>
          <p:nvPr/>
        </p:nvSpPr>
        <p:spPr>
          <a:xfrm>
            <a:off x="5532120" y="1188720"/>
            <a:ext cx="3154680" cy="411480"/>
          </a:xfrm>
          <a:prstGeom prst="roundRect">
            <a:avLst>
              <a:gd name="adj" fmla="val 12000"/>
            </a:avLst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2286000" y="118872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PLONK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5532120" y="118872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Groth16</a:t>
            </a:r>
          </a:p>
        </p:txBody>
      </p:sp>
      <p:sp>
        <p:nvSpPr>
          <p:cNvPr id="596" name="Trusted setup row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566928" y="169164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Trusted setup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2395728" y="169164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universal (phase 1 only)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5641848" y="169164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circuit specific (phase 1 + 2)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566928" y="205740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Proof size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2395728" y="205740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bigger: 9 points + 6 field el.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5641848" y="205740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smaller: 3 points</a:t>
            </a:r>
          </a:p>
        </p:txBody>
      </p:sp>
      <p:sp>
        <p:nvSpPr>
          <p:cNvPr id="603" name="Proving time row"/>
          <p:cNvSpPr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566928" y="242316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Proving time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2395728" y="242316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longer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5641848" y="242316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shorter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566928" y="278892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Verification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395728" y="278892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longer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5641848" y="278892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shorter</a:t>
            </a:r>
          </a:p>
        </p:txBody>
      </p:sp>
      <p:sp>
        <p:nvSpPr>
          <p:cNvPr id="610" name="New circuit row"/>
          <p:cNvSpPr/>
          <p:nvPr/>
        </p:nvSpPr>
        <p:spPr>
          <a:xfrm>
            <a:off x="457200" y="3154679"/>
            <a:ext cx="8229600" cy="365760"/>
          </a:xfrm>
          <a:prstGeom prst="rect">
            <a:avLst/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TextBox 610"/>
          <p:cNvSpPr txBox="1"/>
          <p:nvPr/>
        </p:nvSpPr>
        <p:spPr>
          <a:xfrm>
            <a:off x="566928" y="3154679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New circuit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395728" y="3154679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reuse the same .ptau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641848" y="3154679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new phase 2 ceremony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822960" y="361188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Groth16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: many proofs for the same circuit, performance critical.   </a:t>
            </a:r>
            <a:r>
              <a:rPr sz="1100" b="1" i="0">
                <a:solidFill>
                  <a:srgbClr val="31B5FF"/>
                </a:solidFill>
                <a:latin typeface="Rubik"/>
                <a:ea typeface="Rubik"/>
                <a:cs typeface="Rubik"/>
              </a:rPr>
              <a:t>PLONK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: many different circuits (arbitrary business logic) with reasonably fast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PTMON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