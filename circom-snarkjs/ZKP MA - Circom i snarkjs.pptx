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5" r:id="rId3"/>
    <p:sldMasterId id="2147483676" r:id="rId4"/>
  </p:sldMasterIdLst>
  <p:notesMasterIdLst>
    <p:notesMasterId r:id="rId5"/>
  </p:notesMasterIdLst>
  <p:sldIdLst>
    <p:sldId id="256" r:id="rId6"/>
    <p:sldId id="257" r:id="rId7"/>
    <p:sldId id="304" r:id="rId67"/>
    <p:sldId id="305" r:id="rId68"/>
    <p:sldId id="306" r:id="rId69"/>
    <p:sldId id="307" r:id="rId70"/>
    <p:sldId id="308" r:id="rId71"/>
    <p:sldId id="309" r:id="rId72"/>
    <p:sldId id="310" r:id="rId73"/>
    <p:sldId id="311" r:id="rId74"/>
    <p:sldId id="312" r:id="rId75"/>
    <p:sldId id="313" r:id="rId76"/>
    <p:sldId id="303" r:id="rId53"/>
  </p:sldIdLst>
  <p:sldSz cy="5143500" cx="9144000"/>
  <p:notesSz cx="6858000" cy="9144000"/>
  <p:embeddedFontLst>
    <p:embeddedFont>
      <p:font typeface="Rubik Medium"/>
      <p:regular r:id="rId54"/>
      <p:bold r:id="rId55"/>
      <p:italic r:id="rId56"/>
      <p:boldItalic r:id="rId57"/>
    </p:embeddedFont>
    <p:embeddedFont>
      <p:font typeface="Rubik Light"/>
      <p:regular r:id="rId58"/>
      <p:bold r:id="rId59"/>
      <p:italic r:id="rId60"/>
      <p:boldItalic r:id="rId61"/>
    </p:embeddedFont>
    <p:embeddedFont>
      <p:font typeface="Arial Black"/>
      <p:regular r:id="rId62"/>
    </p:embeddedFont>
    <p:embeddedFont>
      <p:font typeface="Rubik"/>
      <p:regular r:id="rId63"/>
      <p:bold r:id="rId64"/>
      <p:italic r:id="rId65"/>
      <p:boldItalic r:id="rId6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53" Type="http://schemas.openxmlformats.org/officeDocument/2006/relationships/slide" Target="slides/slide48.xml"/><Relationship Id="rId54" Type="http://schemas.openxmlformats.org/officeDocument/2006/relationships/font" Target="fonts/RubikMedium-regular.fntdata"/><Relationship Id="rId55" Type="http://schemas.openxmlformats.org/officeDocument/2006/relationships/font" Target="fonts/RubikMedium-bold.fntdata"/><Relationship Id="rId56" Type="http://schemas.openxmlformats.org/officeDocument/2006/relationships/font" Target="fonts/RubikMedium-italic.fntdata"/><Relationship Id="rId57" Type="http://schemas.openxmlformats.org/officeDocument/2006/relationships/font" Target="fonts/RubikMedium-boldItalic.fntdata"/><Relationship Id="rId58" Type="http://schemas.openxmlformats.org/officeDocument/2006/relationships/font" Target="fonts/RubikLight-regular.fntdata"/><Relationship Id="rId59" Type="http://schemas.openxmlformats.org/officeDocument/2006/relationships/font" Target="fonts/RubikLight-bold.fntdata"/><Relationship Id="rId60" Type="http://schemas.openxmlformats.org/officeDocument/2006/relationships/font" Target="fonts/RubikLight-italic.fntdata"/><Relationship Id="rId61" Type="http://schemas.openxmlformats.org/officeDocument/2006/relationships/font" Target="fonts/RubikLight-boldItalic.fntdata"/><Relationship Id="rId62" Type="http://schemas.openxmlformats.org/officeDocument/2006/relationships/font" Target="fonts/ArialBlack-regular.fntdata"/><Relationship Id="rId63" Type="http://schemas.openxmlformats.org/officeDocument/2006/relationships/font" Target="fonts/Rubik-regular.fntdata"/><Relationship Id="rId64" Type="http://schemas.openxmlformats.org/officeDocument/2006/relationships/font" Target="fonts/Rubik-bold.fntdata"/><Relationship Id="rId65" Type="http://schemas.openxmlformats.org/officeDocument/2006/relationships/font" Target="fonts/Rubik-italic.fntdata"/><Relationship Id="rId66" Type="http://schemas.openxmlformats.org/officeDocument/2006/relationships/font" Target="fonts/Rubik-boldItalic.fntdata"/><Relationship Id="rId67" Type="http://schemas.openxmlformats.org/officeDocument/2006/relationships/slide" Target="slides/slide49.xml"/><Relationship Id="rId68" Type="http://schemas.openxmlformats.org/officeDocument/2006/relationships/slide" Target="slides/slide50.xml"/><Relationship Id="rId69" Type="http://schemas.openxmlformats.org/officeDocument/2006/relationships/slide" Target="slides/slide51.xml"/><Relationship Id="rId70" Type="http://schemas.openxmlformats.org/officeDocument/2006/relationships/slide" Target="slides/slide52.xml"/><Relationship Id="rId71" Type="http://schemas.openxmlformats.org/officeDocument/2006/relationships/slide" Target="slides/slide53.xml"/><Relationship Id="rId72" Type="http://schemas.openxmlformats.org/officeDocument/2006/relationships/slide" Target="slides/slide54.xml"/><Relationship Id="rId73" Type="http://schemas.openxmlformats.org/officeDocument/2006/relationships/slide" Target="slides/slide55.xml"/><Relationship Id="rId74" Type="http://schemas.openxmlformats.org/officeDocument/2006/relationships/slide" Target="slides/slide56.xml"/><Relationship Id="rId75" Type="http://schemas.openxmlformats.org/officeDocument/2006/relationships/slide" Target="slides/slide57.xml"/><Relationship Id="rId76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7c0fd2437b_2_8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g7c0fd2437b_2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7c0fd2437b_2_1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g7c0fd2437b_2_1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7c0fd2437b_2_4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g7c0fd2437b_2_4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hyperlink" Target="http://www.pptmon.com/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://www.pptmon.com/" TargetMode="Externa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hyperlink" Target="http://www.pptmon.com/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://www.pptmon.com/" TargetMode="Externa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hyperlink" Target="http://www.pptmon.com/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://www.pptmon.com/" TargetMode="Externa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Relationship Id="rId5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www.pptmon.com/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://www.pptmon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PTMON title">
  <p:cSld name="PPTMON titl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14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4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8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4"/>
          <p:cNvPicPr preferRelativeResize="0"/>
          <p:nvPr/>
        </p:nvPicPr>
        <p:blipFill rotWithShape="1">
          <a:blip r:embed="rId5">
            <a:alphaModFix/>
          </a:blip>
          <a:srcRect b="0" l="19219" r="0" t="0"/>
          <a:stretch/>
        </p:blipFill>
        <p:spPr>
          <a:xfrm>
            <a:off x="0" y="0"/>
            <a:ext cx="738663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PPTMON slide">
  <p:cSld name="1_PPTMON slide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5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5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" name="Google Shape;58;p15"/>
          <p:cNvPicPr preferRelativeResize="0"/>
          <p:nvPr/>
        </p:nvPicPr>
        <p:blipFill rotWithShape="1">
          <a:blip r:embed="rId5">
            <a:alphaModFix/>
          </a:blip>
          <a:srcRect b="83611" l="29015" r="41609" t="0"/>
          <a:stretch/>
        </p:blipFill>
        <p:spPr>
          <a:xfrm>
            <a:off x="0" y="0"/>
            <a:ext cx="2686050" cy="8429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 rotWithShape="1">
          <a:blip r:embed="rId5">
            <a:alphaModFix/>
          </a:blip>
          <a:srcRect b="33472" l="47422" r="0" t="55556"/>
          <a:stretch/>
        </p:blipFill>
        <p:spPr>
          <a:xfrm flipH="1">
            <a:off x="4336256" y="4579144"/>
            <a:ext cx="4807744" cy="5643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PPTMON slide">
  <p:cSld name="2_PPTMON slid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6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6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" name="Google Shape;63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6"/>
          <p:cNvPicPr preferRelativeResize="0"/>
          <p:nvPr/>
        </p:nvPicPr>
        <p:blipFill rotWithShape="1">
          <a:blip r:embed="rId5">
            <a:alphaModFix/>
          </a:blip>
          <a:srcRect b="0" l="0" r="50000" t="0"/>
          <a:stretch/>
        </p:blipFill>
        <p:spPr>
          <a:xfrm flipH="1">
            <a:off x="4572000" y="0"/>
            <a:ext cx="4572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PPTMON slide">
  <p:cSld name="3_PPTMON slide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7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7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" name="Google Shape;68;p17"/>
          <p:cNvPicPr preferRelativeResize="0"/>
          <p:nvPr/>
        </p:nvPicPr>
        <p:blipFill rotWithShape="1">
          <a:blip r:embed="rId5">
            <a:alphaModFix/>
          </a:blip>
          <a:srcRect b="0" l="42422" r="0" t="0"/>
          <a:stretch/>
        </p:blipFill>
        <p:spPr>
          <a:xfrm>
            <a:off x="0" y="0"/>
            <a:ext cx="5264944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7"/>
          <p:cNvPicPr preferRelativeResize="0"/>
          <p:nvPr/>
        </p:nvPicPr>
        <p:blipFill rotWithShape="1">
          <a:blip r:embed="rId5">
            <a:alphaModFix/>
          </a:blip>
          <a:srcRect b="0" l="42422" r="0" t="0"/>
          <a:stretch/>
        </p:blipFill>
        <p:spPr>
          <a:xfrm flipH="1">
            <a:off x="3879056" y="0"/>
            <a:ext cx="526494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PPTMON slide">
  <p:cSld name="4_PPTMON slide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8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8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8"/>
          <p:cNvSpPr/>
          <p:nvPr>
            <p:ph idx="2" type="pic"/>
          </p:nvPr>
        </p:nvSpPr>
        <p:spPr>
          <a:xfrm>
            <a:off x="0" y="1"/>
            <a:ext cx="9144000" cy="25717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ctr" bIns="35100" lIns="68575" spcFirstLastPara="1" rIns="68575" wrap="square" tIns="648000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74" name="Google Shape;74;p18"/>
          <p:cNvPicPr preferRelativeResize="0"/>
          <p:nvPr/>
        </p:nvPicPr>
        <p:blipFill rotWithShape="1">
          <a:blip r:embed="rId5">
            <a:alphaModFix/>
          </a:blip>
          <a:srcRect b="33472" l="47422" r="0" t="55556"/>
          <a:stretch/>
        </p:blipFill>
        <p:spPr>
          <a:xfrm flipH="1">
            <a:off x="4336256" y="4579144"/>
            <a:ext cx="4807744" cy="5643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PPTMON slide">
  <p:cSld name="5_PPTMON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9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9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" name="Google Shape;78;p19"/>
          <p:cNvPicPr preferRelativeResize="0"/>
          <p:nvPr/>
        </p:nvPicPr>
        <p:blipFill rotWithShape="1">
          <a:blip r:embed="rId5">
            <a:alphaModFix/>
          </a:blip>
          <a:srcRect b="83611" l="29015" r="41609" t="0"/>
          <a:stretch/>
        </p:blipFill>
        <p:spPr>
          <a:xfrm>
            <a:off x="0" y="0"/>
            <a:ext cx="2686050" cy="842963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9"/>
          <p:cNvPicPr preferRelativeResize="0"/>
          <p:nvPr/>
        </p:nvPicPr>
        <p:blipFill rotWithShape="1">
          <a:blip r:embed="rId5">
            <a:alphaModFix/>
          </a:blip>
          <a:srcRect b="83611" l="29015" r="41609" t="0"/>
          <a:stretch/>
        </p:blipFill>
        <p:spPr>
          <a:xfrm flipH="1">
            <a:off x="6457952" y="0"/>
            <a:ext cx="2686050" cy="842963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9"/>
          <p:cNvSpPr/>
          <p:nvPr>
            <p:ph idx="2" type="pic"/>
          </p:nvPr>
        </p:nvSpPr>
        <p:spPr>
          <a:xfrm>
            <a:off x="976313" y="1987714"/>
            <a:ext cx="1605548" cy="1605547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b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p19"/>
          <p:cNvSpPr/>
          <p:nvPr>
            <p:ph idx="3" type="pic"/>
          </p:nvPr>
        </p:nvSpPr>
        <p:spPr>
          <a:xfrm>
            <a:off x="2833688" y="1987714"/>
            <a:ext cx="1605548" cy="1605547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b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9"/>
          <p:cNvSpPr/>
          <p:nvPr>
            <p:ph idx="4" type="pic"/>
          </p:nvPr>
        </p:nvSpPr>
        <p:spPr>
          <a:xfrm>
            <a:off x="4704766" y="1987714"/>
            <a:ext cx="1605548" cy="1605547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b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9"/>
          <p:cNvSpPr/>
          <p:nvPr>
            <p:ph idx="5" type="pic"/>
          </p:nvPr>
        </p:nvSpPr>
        <p:spPr>
          <a:xfrm>
            <a:off x="6562139" y="1987714"/>
            <a:ext cx="1605548" cy="1605547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b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PPTMON slide">
  <p:cSld name="6_PPTMON slide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0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20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" name="Google Shape;87;p20"/>
          <p:cNvPicPr preferRelativeResize="0"/>
          <p:nvPr/>
        </p:nvPicPr>
        <p:blipFill rotWithShape="1">
          <a:blip r:embed="rId5">
            <a:alphaModFix/>
          </a:blip>
          <a:srcRect b="0" l="54765" r="0" t="0"/>
          <a:stretch/>
        </p:blipFill>
        <p:spPr>
          <a:xfrm>
            <a:off x="0" y="0"/>
            <a:ext cx="4136231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PPTMON slide">
  <p:cSld name="8_PPTMON slide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21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21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1" name="Google Shape;91;p21"/>
          <p:cNvPicPr preferRelativeResize="0"/>
          <p:nvPr/>
        </p:nvPicPr>
        <p:blipFill rotWithShape="1">
          <a:blip r:embed="rId5">
            <a:alphaModFix/>
          </a:blip>
          <a:srcRect b="0" l="32656" r="0" t="0"/>
          <a:stretch/>
        </p:blipFill>
        <p:spPr>
          <a:xfrm flipH="1">
            <a:off x="2986088" y="0"/>
            <a:ext cx="615791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PPTMON slide">
  <p:cSld name="9_PPTMON slide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22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22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5" name="Google Shape;95;p22"/>
          <p:cNvPicPr preferRelativeResize="0"/>
          <p:nvPr/>
        </p:nvPicPr>
        <p:blipFill rotWithShape="1">
          <a:blip r:embed="rId5">
            <a:alphaModFix/>
          </a:blip>
          <a:srcRect b="83611" l="29015" r="41609" t="0"/>
          <a:stretch/>
        </p:blipFill>
        <p:spPr>
          <a:xfrm>
            <a:off x="0" y="0"/>
            <a:ext cx="2686050" cy="842963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22"/>
          <p:cNvPicPr preferRelativeResize="0"/>
          <p:nvPr/>
        </p:nvPicPr>
        <p:blipFill rotWithShape="1">
          <a:blip r:embed="rId5">
            <a:alphaModFix/>
          </a:blip>
          <a:srcRect b="33472" l="47422" r="0" t="55556"/>
          <a:stretch/>
        </p:blipFill>
        <p:spPr>
          <a:xfrm>
            <a:off x="0" y="4579144"/>
            <a:ext cx="4807744" cy="5643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PPTMON slide">
  <p:cSld name="10_PPTMON slide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3"/>
          <p:cNvPicPr preferRelativeResize="0"/>
          <p:nvPr/>
        </p:nvPicPr>
        <p:blipFill rotWithShape="1">
          <a:blip r:embed="rId2">
            <a:alphaModFix/>
          </a:blip>
          <a:srcRect b="0" l="54765" r="0" t="0"/>
          <a:stretch/>
        </p:blipFill>
        <p:spPr>
          <a:xfrm>
            <a:off x="0" y="0"/>
            <a:ext cx="4136231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23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3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3"/>
          <p:cNvSpPr/>
          <p:nvPr>
            <p:ph idx="2" type="pic"/>
          </p:nvPr>
        </p:nvSpPr>
        <p:spPr>
          <a:xfrm>
            <a:off x="881681" y="1606834"/>
            <a:ext cx="1469741" cy="292230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ctr" bIns="34275" lIns="68575" spcFirstLastPara="1" rIns="68575" wrap="square" tIns="6210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2" name="Google Shape;102;p23"/>
          <p:cNvSpPr/>
          <p:nvPr>
            <p:ph idx="3" type="pic"/>
          </p:nvPr>
        </p:nvSpPr>
        <p:spPr>
          <a:xfrm>
            <a:off x="2983220" y="1606834"/>
            <a:ext cx="1469741" cy="292230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ctr" bIns="34275" lIns="68575" spcFirstLastPara="1" rIns="68575" wrap="square" tIns="6210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3" name="Google Shape;103;p23"/>
          <p:cNvPicPr preferRelativeResize="0"/>
          <p:nvPr/>
        </p:nvPicPr>
        <p:blipFill rotWithShape="1">
          <a:blip r:embed="rId2">
            <a:alphaModFix/>
          </a:blip>
          <a:srcRect b="83611" l="29015" r="41609" t="0"/>
          <a:stretch/>
        </p:blipFill>
        <p:spPr>
          <a:xfrm flipH="1">
            <a:off x="6457952" y="0"/>
            <a:ext cx="2686050" cy="8429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PPTMON slide">
  <p:cSld name="11_PPTMON slid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24"/>
          <p:cNvPicPr preferRelativeResize="0"/>
          <p:nvPr/>
        </p:nvPicPr>
        <p:blipFill rotWithShape="1">
          <a:blip r:embed="rId2">
            <a:alphaModFix/>
          </a:blip>
          <a:srcRect b="0" l="54765" r="0" t="0"/>
          <a:stretch/>
        </p:blipFill>
        <p:spPr>
          <a:xfrm>
            <a:off x="0" y="0"/>
            <a:ext cx="4136231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24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4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4"/>
          <p:cNvSpPr/>
          <p:nvPr>
            <p:ph idx="2" type="pic"/>
          </p:nvPr>
        </p:nvSpPr>
        <p:spPr>
          <a:xfrm>
            <a:off x="1132922" y="1178719"/>
            <a:ext cx="2751511" cy="340756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ctr" bIns="34275" lIns="68575" spcFirstLastPara="1" rIns="68575" wrap="square" tIns="6210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4"/>
          <p:cNvPicPr preferRelativeResize="0"/>
          <p:nvPr/>
        </p:nvPicPr>
        <p:blipFill rotWithShape="1">
          <a:blip r:embed="rId2">
            <a:alphaModFix/>
          </a:blip>
          <a:srcRect b="83611" l="29015" r="41609" t="0"/>
          <a:stretch/>
        </p:blipFill>
        <p:spPr>
          <a:xfrm flipH="1">
            <a:off x="6457952" y="0"/>
            <a:ext cx="2686050" cy="8429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PPTMON slide">
  <p:cSld name="12_PPTMON slide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5"/>
          <p:cNvPicPr preferRelativeResize="0"/>
          <p:nvPr/>
        </p:nvPicPr>
        <p:blipFill rotWithShape="1">
          <a:blip r:embed="rId2">
            <a:alphaModFix/>
          </a:blip>
          <a:srcRect b="0" l="54765" r="0" t="0"/>
          <a:stretch/>
        </p:blipFill>
        <p:spPr>
          <a:xfrm>
            <a:off x="0" y="0"/>
            <a:ext cx="4136231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5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5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5"/>
          <p:cNvSpPr/>
          <p:nvPr>
            <p:ph idx="2" type="pic"/>
          </p:nvPr>
        </p:nvSpPr>
        <p:spPr>
          <a:xfrm>
            <a:off x="575708" y="1064419"/>
            <a:ext cx="471781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1" anchor="ctr" bIns="34275" lIns="68575" spcFirstLastPara="1" rIns="68575" wrap="square" tIns="6210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15" name="Google Shape;115;p25"/>
          <p:cNvPicPr preferRelativeResize="0"/>
          <p:nvPr/>
        </p:nvPicPr>
        <p:blipFill rotWithShape="1">
          <a:blip r:embed="rId2">
            <a:alphaModFix/>
          </a:blip>
          <a:srcRect b="83611" l="29015" r="41609" t="0"/>
          <a:stretch/>
        </p:blipFill>
        <p:spPr>
          <a:xfrm flipH="1">
            <a:off x="6457952" y="0"/>
            <a:ext cx="2686050" cy="8429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PPTMON slide">
  <p:cSld name="13_PPTMON slide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6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6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6"/>
          <p:cNvPicPr preferRelativeResize="0"/>
          <p:nvPr/>
        </p:nvPicPr>
        <p:blipFill rotWithShape="1">
          <a:blip r:embed="rId5">
            <a:alphaModFix/>
          </a:blip>
          <a:srcRect b="83611" l="29015" r="41609" t="0"/>
          <a:stretch/>
        </p:blipFill>
        <p:spPr>
          <a:xfrm flipH="1">
            <a:off x="6457952" y="0"/>
            <a:ext cx="2686050" cy="8429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PTMON custom">
  <p:cSld name="PPTMON custom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27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7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PPTMON slide">
  <p:cSld name="7_PPTMON slide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8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8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p28"/>
          <p:cNvPicPr preferRelativeResize="0"/>
          <p:nvPr/>
        </p:nvPicPr>
        <p:blipFill rotWithShape="1">
          <a:blip r:embed="rId5">
            <a:alphaModFix/>
          </a:blip>
          <a:srcRect b="0" l="32656" r="0" t="0"/>
          <a:stretch/>
        </p:blipFill>
        <p:spPr>
          <a:xfrm>
            <a:off x="0" y="0"/>
            <a:ext cx="615791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PTMON slide">
  <p:cSld name="PPTMON slide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29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5427" y="5297943"/>
            <a:ext cx="185380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9"/>
          <p:cNvSpPr txBox="1"/>
          <p:nvPr/>
        </p:nvSpPr>
        <p:spPr>
          <a:xfrm>
            <a:off x="3054769" y="5297943"/>
            <a:ext cx="201797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Presentation template by</a:t>
            </a:r>
            <a:endParaRPr sz="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://www.matematickaakademija.com" TargetMode="External"/><Relationship Id="rId5" Type="http://schemas.openxmlformats.org/officeDocument/2006/relationships/image" Target="../media/image5.png"/><Relationship Id="rId6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Relationship Id="rId3" Type="http://schemas.openxmlformats.org/officeDocument/2006/relationships/hyperlink" Target="https://github.com/radojevicMihailo/ZK-kurs/blob/master/circom-snarkjs/installation/macos-linux-installation.txt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Relationship Id="rId3" Type="http://schemas.openxmlformats.org/officeDocument/2006/relationships/hyperlink" Target="https://rustup.rs" TargetMode="External"/><Relationship Id="rId4" Type="http://schemas.openxmlformats.org/officeDocument/2006/relationships/hyperlink" Target="https://github.com/radojevicMihailo/ZK-kurs/blob/master/circom-snarkjs/installation/windows-installation.txt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Relationship Id="rId3" Type="http://schemas.openxmlformats.org/officeDocument/2006/relationships/hyperlink" Target="https://github.com/iden3/snarkjs?tab=readme-ov-file" TargetMode="External"/><Relationship Id="rId4" Type="http://schemas.openxmlformats.org/officeDocument/2006/relationships/hyperlink" Target="https://github.com/privacy-scaling-explorations/perpetualpowersoftau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86592" y="1635768"/>
            <a:ext cx="1885825" cy="18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0"/>
          <p:cNvSpPr txBox="1"/>
          <p:nvPr/>
        </p:nvSpPr>
        <p:spPr>
          <a:xfrm>
            <a:off x="2823450" y="4447075"/>
            <a:ext cx="3497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u="sng">
                <a:solidFill>
                  <a:schemeClr val="hlink"/>
                </a:solidFill>
                <a:latin typeface="Arial Black"/>
                <a:ea typeface="Arial Black"/>
                <a:cs typeface="Arial Black"/>
                <a:sym typeface="Arial Black"/>
                <a:hlinkClick r:id="rId4"/>
              </a:rPr>
              <a:t>www.matematickaakademija.com</a:t>
            </a:r>
            <a:endParaRPr>
              <a:solidFill>
                <a:srgbClr val="3C78D8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pic>
        <p:nvPicPr>
          <p:cNvPr id="136" name="Google Shape;136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91518" y="1834863"/>
            <a:ext cx="4812294" cy="168672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Slide number"/>
          <p:cNvSpPr txBox="1"/>
          <p:nvPr/>
        </p:nvSpPr>
        <p:spPr>
          <a:xfrm>
            <a:off x="7863840" y="475488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fld id="{B6F15528-21DE-4FAA-801E-634DDDAF4B2B}" type="slidenum"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1</a:t>
            </a:fld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1"/>
          <p:cNvSpPr/>
          <p:nvPr/>
        </p:nvSpPr>
        <p:spPr>
          <a:xfrm>
            <a:off x="2277699" y="1597288"/>
            <a:ext cx="2928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143" name="Google Shape;143;p31"/>
          <p:cNvSpPr/>
          <p:nvPr/>
        </p:nvSpPr>
        <p:spPr>
          <a:xfrm>
            <a:off x="2277704" y="3884263"/>
            <a:ext cx="3425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144" name="Google Shape;144;p31"/>
          <p:cNvSpPr/>
          <p:nvPr/>
        </p:nvSpPr>
        <p:spPr>
          <a:xfrm>
            <a:off x="2277699" y="2711072"/>
            <a:ext cx="2928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145" name="Google Shape;145;p31"/>
          <p:cNvSpPr/>
          <p:nvPr/>
        </p:nvSpPr>
        <p:spPr>
          <a:xfrm>
            <a:off x="928500" y="873325"/>
            <a:ext cx="5210700" cy="4031700"/>
          </a:xfrm>
          <a:prstGeom prst="rect">
            <a:avLst/>
          </a:prstGeom>
          <a:solidFill>
            <a:srgbClr val="FFFFFF">
              <a:alpha val="6980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31"/>
          <p:cNvSpPr/>
          <p:nvPr/>
        </p:nvSpPr>
        <p:spPr>
          <a:xfrm>
            <a:off x="1218489" y="1398853"/>
            <a:ext cx="673800" cy="673800"/>
          </a:xfrm>
          <a:prstGeom prst="ellipse">
            <a:avLst/>
          </a:prstGeom>
          <a:solidFill>
            <a:srgbClr val="31B5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31"/>
          <p:cNvSpPr/>
          <p:nvPr/>
        </p:nvSpPr>
        <p:spPr>
          <a:xfrm>
            <a:off x="1218489" y="2314178"/>
            <a:ext cx="673800" cy="673800"/>
          </a:xfrm>
          <a:prstGeom prst="ellipse">
            <a:avLst/>
          </a:prstGeom>
          <a:solidFill>
            <a:srgbClr val="31B5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31"/>
          <p:cNvSpPr/>
          <p:nvPr/>
        </p:nvSpPr>
        <p:spPr>
          <a:xfrm>
            <a:off x="1218489" y="3222203"/>
            <a:ext cx="673800" cy="673800"/>
          </a:xfrm>
          <a:prstGeom prst="ellipse">
            <a:avLst/>
          </a:prstGeom>
          <a:solidFill>
            <a:srgbClr val="31B5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31"/>
          <p:cNvSpPr txBox="1"/>
          <p:nvPr/>
        </p:nvSpPr>
        <p:spPr>
          <a:xfrm>
            <a:off x="821520" y="321788"/>
            <a:ext cx="39051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24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Content</a:t>
            </a:r>
            <a:endParaRPr sz="2400">
              <a:solidFill>
                <a:srgbClr val="FFFFFF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150" name="Google Shape;150;p31"/>
          <p:cNvSpPr/>
          <p:nvPr/>
        </p:nvSpPr>
        <p:spPr>
          <a:xfrm>
            <a:off x="1323200" y="1440550"/>
            <a:ext cx="464400" cy="632100"/>
          </a:xfrm>
          <a:prstGeom prst="mathMinus">
            <a:avLst>
              <a:gd fmla="val 23520" name="adj1"/>
            </a:avLst>
          </a:prstGeom>
          <a:solidFill>
            <a:srgbClr val="FFFFFF"/>
          </a:solidFill>
          <a:ln cap="flat" cmpd="sng" w="9525">
            <a:solidFill>
              <a:srgbClr val="445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31"/>
          <p:cNvSpPr/>
          <p:nvPr/>
        </p:nvSpPr>
        <p:spPr>
          <a:xfrm>
            <a:off x="1323200" y="2335025"/>
            <a:ext cx="464400" cy="632100"/>
          </a:xfrm>
          <a:prstGeom prst="mathMinus">
            <a:avLst>
              <a:gd fmla="val 23520" name="adj1"/>
            </a:avLst>
          </a:prstGeom>
          <a:solidFill>
            <a:srgbClr val="FFFFFF"/>
          </a:solidFill>
          <a:ln cap="flat" cmpd="sng" w="9525">
            <a:solidFill>
              <a:srgbClr val="445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31"/>
          <p:cNvSpPr/>
          <p:nvPr/>
        </p:nvSpPr>
        <p:spPr>
          <a:xfrm>
            <a:off x="1323200" y="3229500"/>
            <a:ext cx="464400" cy="632100"/>
          </a:xfrm>
          <a:prstGeom prst="mathMinus">
            <a:avLst>
              <a:gd fmla="val 23520" name="adj1"/>
            </a:avLst>
          </a:prstGeom>
          <a:solidFill>
            <a:srgbClr val="FFFFFF"/>
          </a:solidFill>
          <a:ln cap="flat" cmpd="sng" w="9525">
            <a:solidFill>
              <a:srgbClr val="445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31"/>
          <p:cNvSpPr txBox="1"/>
          <p:nvPr/>
        </p:nvSpPr>
        <p:spPr>
          <a:xfrm>
            <a:off x="1892300" y="1535638"/>
            <a:ext cx="321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Circom installation</a:t>
            </a:r>
            <a:endParaRPr/>
          </a:p>
        </p:txBody>
      </p:sp>
      <p:sp>
        <p:nvSpPr>
          <p:cNvPr id="154" name="Google Shape;154;p31"/>
          <p:cNvSpPr txBox="1"/>
          <p:nvPr/>
        </p:nvSpPr>
        <p:spPr>
          <a:xfrm>
            <a:off x="1892300" y="2431775"/>
            <a:ext cx="19254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Generating proofs with snarkjs</a:t>
            </a:r>
            <a:endParaRPr/>
          </a:p>
        </p:txBody>
      </p:sp>
      <p:sp>
        <p:nvSpPr>
          <p:cNvPr id="155" name="Google Shape;155;p31"/>
          <p:cNvSpPr txBox="1"/>
          <p:nvPr/>
        </p:nvSpPr>
        <p:spPr>
          <a:xfrm>
            <a:off x="1892300" y="3366300"/>
            <a:ext cx="2268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PLONK vs Groth16</a:t>
            </a:r>
            <a:endParaRPr/>
          </a:p>
        </p:txBody>
      </p:sp>
      <p:sp>
        <p:nvSpPr>
          <p:cNvPr id="156" name="Slide number"/>
          <p:cNvSpPr txBox="1"/>
          <p:nvPr/>
        </p:nvSpPr>
        <p:spPr>
          <a:xfrm>
            <a:off x="7863840" y="475488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fld id="{B6F15528-21DE-4FAA-801E-634DDDAF4B2B}" type="slidenum"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2</a:t>
            </a:fld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/13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9" name="Google Shape;629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48447" y="1629603"/>
            <a:ext cx="1032800" cy="1032774"/>
          </a:xfrm>
          <a:prstGeom prst="rect">
            <a:avLst/>
          </a:prstGeom>
          <a:noFill/>
          <a:ln>
            <a:noFill/>
          </a:ln>
        </p:spPr>
      </p:pic>
      <p:sp>
        <p:nvSpPr>
          <p:cNvPr id="630" name="Google Shape;630;p77"/>
          <p:cNvSpPr txBox="1"/>
          <p:nvPr/>
        </p:nvSpPr>
        <p:spPr>
          <a:xfrm>
            <a:off x="2179576" y="2936697"/>
            <a:ext cx="4932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100">
                <a:solidFill>
                  <a:srgbClr val="3986F7"/>
                </a:solidFill>
                <a:latin typeface="Arial Black"/>
                <a:ea typeface="Arial Black"/>
                <a:cs typeface="Arial Black"/>
                <a:sym typeface="Arial Black"/>
              </a:rPr>
              <a:t>Thank </a:t>
            </a:r>
            <a:r>
              <a:rPr b="1" lang="ko" sz="3100">
                <a:solidFill>
                  <a:srgbClr val="000000"/>
                </a:solidFill>
                <a:latin typeface="Arial Black"/>
                <a:ea typeface="Arial Black"/>
                <a:cs typeface="Arial Black"/>
                <a:sym typeface="Arial Black"/>
              </a:rPr>
              <a:t>you!</a:t>
            </a:r>
            <a:endParaRPr sz="900">
              <a:solidFill>
                <a:srgbClr val="000000"/>
              </a:solidFill>
            </a:endParaRPr>
          </a:p>
        </p:txBody>
      </p:sp>
      <p:sp>
        <p:nvSpPr>
          <p:cNvPr id="631" name="Slide number"/>
          <p:cNvSpPr txBox="1"/>
          <p:nvPr/>
        </p:nvSpPr>
        <p:spPr>
          <a:xfrm>
            <a:off x="7863840" y="475488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fld id="{B6F15528-21DE-4FAA-801E-634DDDAF4B2B}" type="slidenum"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13</a:t>
            </a:fld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/13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Circom installation: macOS / Linux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Oval 591"/>
          <p:cNvSpPr/>
          <p:nvPr/>
        </p:nvSpPr>
        <p:spPr>
          <a:xfrm>
            <a:off x="457200" y="1207008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593" name="Step 1"/>
          <p:cNvSpPr txBox="1"/>
          <p:nvPr/>
        </p:nvSpPr>
        <p:spPr>
          <a:xfrm>
            <a:off x="914400" y="1188720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Rust toolchain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installs rustup + cargo, then open a new terminal</a:t>
            </a:r>
          </a:p>
        </p:txBody>
      </p:sp>
      <p:sp>
        <p:nvSpPr>
          <p:cNvPr id="594" name="Step 1 command"/>
          <p:cNvSpPr/>
          <p:nvPr/>
        </p:nvSpPr>
        <p:spPr>
          <a:xfrm>
            <a:off x="914400" y="1435608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Step 1 text"/>
          <p:cNvSpPr txBox="1"/>
          <p:nvPr/>
        </p:nvSpPr>
        <p:spPr>
          <a:xfrm>
            <a:off x="1051560" y="1435608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curl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proto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A64B00"/>
                </a:solidFill>
                <a:latin typeface="Courier New"/>
                <a:ea typeface="Courier New"/>
                <a:cs typeface="Courier New"/>
              </a:rPr>
              <a:t>'=https'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tlsv1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https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sh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rustup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rs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sSf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|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sh</a:t>
            </a:r>
          </a:p>
        </p:txBody>
      </p:sp>
      <p:sp>
        <p:nvSpPr>
          <p:cNvPr id="596" name="Oval 595"/>
          <p:cNvSpPr/>
          <p:nvPr/>
        </p:nvSpPr>
        <p:spPr>
          <a:xfrm>
            <a:off x="457200" y="1792224"/>
            <a:ext cx="329184" cy="329184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597" name="Step 2"/>
          <p:cNvSpPr txBox="1"/>
          <p:nvPr/>
        </p:nvSpPr>
        <p:spPr>
          <a:xfrm>
            <a:off x="914400" y="1773936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Clone circom</a:t>
            </a:r>
          </a:p>
        </p:txBody>
      </p:sp>
      <p:sp>
        <p:nvSpPr>
          <p:cNvPr id="598" name="Step 2 command"/>
          <p:cNvSpPr/>
          <p:nvPr/>
        </p:nvSpPr>
        <p:spPr>
          <a:xfrm>
            <a:off x="914400" y="2020824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Step 2 text"/>
          <p:cNvSpPr txBox="1"/>
          <p:nvPr/>
        </p:nvSpPr>
        <p:spPr>
          <a:xfrm>
            <a:off x="1051560" y="2020824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git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clone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https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github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com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iden3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git</a:t>
            </a:r>
          </a:p>
        </p:txBody>
      </p:sp>
      <p:sp>
        <p:nvSpPr>
          <p:cNvPr id="600" name="Oval 599"/>
          <p:cNvSpPr/>
          <p:nvPr/>
        </p:nvSpPr>
        <p:spPr>
          <a:xfrm>
            <a:off x="457200" y="2377440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601" name="Step 3"/>
          <p:cNvSpPr txBox="1"/>
          <p:nvPr/>
        </p:nvSpPr>
        <p:spPr>
          <a:xfrm>
            <a:off x="914400" y="2359152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Build &amp; install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takes a few minutes</a:t>
            </a:r>
          </a:p>
        </p:txBody>
      </p:sp>
      <p:sp>
        <p:nvSpPr>
          <p:cNvPr id="602" name="Step 3 command"/>
          <p:cNvSpPr/>
          <p:nvPr/>
        </p:nvSpPr>
        <p:spPr>
          <a:xfrm>
            <a:off x="914400" y="2606040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Step 3 text"/>
          <p:cNvSpPr txBox="1"/>
          <p:nvPr/>
        </p:nvSpPr>
        <p:spPr>
          <a:xfrm>
            <a:off x="1051560" y="2606040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cd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cargo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build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release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cargo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install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path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circom</a:t>
            </a:r>
          </a:p>
        </p:txBody>
      </p:sp>
      <p:sp>
        <p:nvSpPr>
          <p:cNvPr id="604" name="Oval 603"/>
          <p:cNvSpPr/>
          <p:nvPr/>
        </p:nvSpPr>
        <p:spPr>
          <a:xfrm>
            <a:off x="457200" y="2962656"/>
            <a:ext cx="329184" cy="329184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605" name="Step 4"/>
          <p:cNvSpPr txBox="1"/>
          <p:nvPr/>
        </p:nvSpPr>
        <p:spPr>
          <a:xfrm>
            <a:off x="914400" y="2944368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snarkjs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JavaScript library, needs Node.js</a:t>
            </a:r>
          </a:p>
        </p:txBody>
      </p:sp>
      <p:sp>
        <p:nvSpPr>
          <p:cNvPr id="606" name="Step 4 command"/>
          <p:cNvSpPr/>
          <p:nvPr/>
        </p:nvSpPr>
        <p:spPr>
          <a:xfrm>
            <a:off x="914400" y="3191256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Step 4 text"/>
          <p:cNvSpPr txBox="1"/>
          <p:nvPr/>
        </p:nvSpPr>
        <p:spPr>
          <a:xfrm>
            <a:off x="1051560" y="3191256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npm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install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snarkjs</a:t>
            </a:r>
          </a:p>
        </p:txBody>
      </p:sp>
      <p:sp>
        <p:nvSpPr>
          <p:cNvPr id="608" name="Oval 607"/>
          <p:cNvSpPr/>
          <p:nvPr/>
        </p:nvSpPr>
        <p:spPr>
          <a:xfrm>
            <a:off x="457200" y="3547872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5</a:t>
            </a:r>
          </a:p>
        </p:txBody>
      </p:sp>
      <p:sp>
        <p:nvSpPr>
          <p:cNvPr id="609" name="Step 5"/>
          <p:cNvSpPr txBox="1"/>
          <p:nvPr/>
        </p:nvSpPr>
        <p:spPr>
          <a:xfrm>
            <a:off x="914400" y="3529584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Check</a:t>
            </a:r>
          </a:p>
        </p:txBody>
      </p:sp>
      <p:sp>
        <p:nvSpPr>
          <p:cNvPr id="610" name="Step 5 command"/>
          <p:cNvSpPr/>
          <p:nvPr/>
        </p:nvSpPr>
        <p:spPr>
          <a:xfrm>
            <a:off x="914400" y="3776472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Step 5 text"/>
          <p:cNvSpPr txBox="1"/>
          <p:nvPr/>
        </p:nvSpPr>
        <p:spPr>
          <a:xfrm>
            <a:off x="1051560" y="3776472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help</a:t>
            </a:r>
          </a:p>
        </p:txBody>
      </p:sp>
      <p:sp>
        <p:nvSpPr>
          <p:cNvPr id="612" name="Footer"/>
          <p:cNvSpPr txBox="1"/>
          <p:nvPr/>
        </p:nvSpPr>
        <p:spPr>
          <a:xfrm>
            <a:off x="868680" y="4224528"/>
            <a:ext cx="7818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Needs Node.js, git and a C compiler (macOS: xcode-select --install, Linux: build-essential).  </a:t>
            </a:r>
            <a:r>
              <a:rPr sz="1000" b="0" i="0" u="sng">
                <a:solidFill>
                  <a:srgbClr val="3986F7"/>
                </a:solidFill>
                <a:latin typeface="Rubik"/>
                <a:ea typeface="Rubik"/>
                <a:cs typeface="Rubik"/>
                <a:hlinkClick r:id="rId3"/>
              </a:rPr>
              <a:t>Full guide</a:t>
            </a:r>
          </a:p>
        </p:txBody>
      </p:sp>
      <p:sp>
        <p:nvSpPr>
          <p:cNvPr id="613" name="Slide number"/>
          <p:cNvSpPr txBox="1"/>
          <p:nvPr/>
        </p:nvSpPr>
        <p:spPr>
          <a:xfrm>
            <a:off x="7863840" y="475488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fld id="{B6F15528-21DE-4FAA-801E-634DDDAF4B2B}" type="slidenum"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3</a:t>
            </a:fld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/13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Circom installation: Windows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Oval 591"/>
          <p:cNvSpPr/>
          <p:nvPr/>
        </p:nvSpPr>
        <p:spPr>
          <a:xfrm>
            <a:off x="457200" y="1207008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593" name="Step 1"/>
          <p:cNvSpPr txBox="1"/>
          <p:nvPr/>
        </p:nvSpPr>
        <p:spPr>
          <a:xfrm>
            <a:off x="914400" y="1188720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Rust toolchain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download and run rustup-init.exe, accept Visual Studio C++ Build Tools</a:t>
            </a:r>
          </a:p>
        </p:txBody>
      </p:sp>
      <p:sp>
        <p:nvSpPr>
          <p:cNvPr id="594" name="Step 1 command"/>
          <p:cNvSpPr/>
          <p:nvPr/>
        </p:nvSpPr>
        <p:spPr>
          <a:xfrm>
            <a:off x="914400" y="1435608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Step 1 text"/>
          <p:cNvSpPr txBox="1"/>
          <p:nvPr/>
        </p:nvSpPr>
        <p:spPr>
          <a:xfrm>
            <a:off x="1051560" y="1435608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i="0" u="sng">
                <a:solidFill>
                  <a:srgbClr val="1B5EC9"/>
                </a:solidFill>
                <a:latin typeface="Courier New"/>
                <a:ea typeface="Courier New"/>
                <a:cs typeface="Courier New"/>
                <a:hlinkClick r:id="rId3"/>
              </a:rPr>
              <a:t>https://rustup.rs</a:t>
            </a:r>
          </a:p>
        </p:txBody>
      </p:sp>
      <p:sp>
        <p:nvSpPr>
          <p:cNvPr id="596" name="Oval 595"/>
          <p:cNvSpPr/>
          <p:nvPr/>
        </p:nvSpPr>
        <p:spPr>
          <a:xfrm>
            <a:off x="457200" y="1792224"/>
            <a:ext cx="329184" cy="329184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597" name="Step 2"/>
          <p:cNvSpPr txBox="1"/>
          <p:nvPr/>
        </p:nvSpPr>
        <p:spPr>
          <a:xfrm>
            <a:off x="914400" y="1773936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Install circom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downloads, builds and installs, no clone needed</a:t>
            </a:r>
          </a:p>
        </p:txBody>
      </p:sp>
      <p:sp>
        <p:nvSpPr>
          <p:cNvPr id="598" name="Step 2 command"/>
          <p:cNvSpPr/>
          <p:nvPr/>
        </p:nvSpPr>
        <p:spPr>
          <a:xfrm>
            <a:off x="914400" y="2020824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Step 2 text"/>
          <p:cNvSpPr txBox="1"/>
          <p:nvPr/>
        </p:nvSpPr>
        <p:spPr>
          <a:xfrm>
            <a:off x="1051560" y="2020824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cargo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install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locked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git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https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github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com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iden3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circom</a:t>
            </a:r>
          </a:p>
        </p:txBody>
      </p:sp>
      <p:sp>
        <p:nvSpPr>
          <p:cNvPr id="600" name="Oval 599"/>
          <p:cNvSpPr/>
          <p:nvPr/>
        </p:nvSpPr>
        <p:spPr>
          <a:xfrm>
            <a:off x="457200" y="2377440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601" name="Step 3"/>
          <p:cNvSpPr txBox="1"/>
          <p:nvPr/>
        </p:nvSpPr>
        <p:spPr>
          <a:xfrm>
            <a:off x="914400" y="2359152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snarkjs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JavaScript library, needs Node.js</a:t>
            </a:r>
          </a:p>
        </p:txBody>
      </p:sp>
      <p:sp>
        <p:nvSpPr>
          <p:cNvPr id="602" name="Step 3 command"/>
          <p:cNvSpPr/>
          <p:nvPr/>
        </p:nvSpPr>
        <p:spPr>
          <a:xfrm>
            <a:off x="914400" y="2606040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Step 3 text"/>
          <p:cNvSpPr txBox="1"/>
          <p:nvPr/>
        </p:nvSpPr>
        <p:spPr>
          <a:xfrm>
            <a:off x="1051560" y="2606040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npm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install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snarkjs</a:t>
            </a:r>
          </a:p>
        </p:txBody>
      </p:sp>
      <p:sp>
        <p:nvSpPr>
          <p:cNvPr id="604" name="Oval 603"/>
          <p:cNvSpPr/>
          <p:nvPr/>
        </p:nvSpPr>
        <p:spPr>
          <a:xfrm>
            <a:off x="457200" y="2962656"/>
            <a:ext cx="329184" cy="329184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605" name="Step 4"/>
          <p:cNvSpPr txBox="1"/>
          <p:nvPr/>
        </p:nvSpPr>
        <p:spPr>
          <a:xfrm>
            <a:off x="914400" y="2944368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Check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in a new PowerShell window</a:t>
            </a:r>
          </a:p>
        </p:txBody>
      </p:sp>
      <p:sp>
        <p:nvSpPr>
          <p:cNvPr id="606" name="Step 4 command"/>
          <p:cNvSpPr/>
          <p:nvPr/>
        </p:nvSpPr>
        <p:spPr>
          <a:xfrm>
            <a:off x="914400" y="3191256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Step 4 text"/>
          <p:cNvSpPr txBox="1"/>
          <p:nvPr/>
        </p:nvSpPr>
        <p:spPr>
          <a:xfrm>
            <a:off x="1051560" y="3191256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help</a:t>
            </a:r>
          </a:p>
        </p:txBody>
      </p:sp>
      <p:sp>
        <p:nvSpPr>
          <p:cNvPr id="608" name="Oval 607"/>
          <p:cNvSpPr/>
          <p:nvPr/>
        </p:nvSpPr>
        <p:spPr>
          <a:xfrm>
            <a:off x="457200" y="3547872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5</a:t>
            </a:r>
          </a:p>
        </p:txBody>
      </p:sp>
      <p:sp>
        <p:nvSpPr>
          <p:cNvPr id="609" name="Step 5"/>
          <p:cNvSpPr txBox="1"/>
          <p:nvPr/>
        </p:nvSpPr>
        <p:spPr>
          <a:xfrm>
            <a:off x="914400" y="3529584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Run .ps1 scripts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Windows blocks them by default</a:t>
            </a:r>
          </a:p>
        </p:txBody>
      </p:sp>
      <p:sp>
        <p:nvSpPr>
          <p:cNvPr id="610" name="Step 5 command"/>
          <p:cNvSpPr/>
          <p:nvPr/>
        </p:nvSpPr>
        <p:spPr>
          <a:xfrm>
            <a:off x="914400" y="3776472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Step 5 text"/>
          <p:cNvSpPr txBox="1"/>
          <p:nvPr/>
        </p:nvSpPr>
        <p:spPr>
          <a:xfrm>
            <a:off x="1051560" y="3776472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powershell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ExecutionPolicy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Bypass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File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\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script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ps1</a:t>
            </a:r>
          </a:p>
        </p:txBody>
      </p:sp>
      <p:sp>
        <p:nvSpPr>
          <p:cNvPr id="612" name="Footer"/>
          <p:cNvSpPr txBox="1"/>
          <p:nvPr/>
        </p:nvSpPr>
        <p:spPr>
          <a:xfrm>
            <a:off x="868680" y="4224528"/>
            <a:ext cx="7818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Run the commands in PowerShell.  </a:t>
            </a:r>
            <a:r>
              <a:rPr sz="1000" b="0" i="0" u="sng">
                <a:solidFill>
                  <a:srgbClr val="3986F7"/>
                </a:solidFill>
                <a:latin typeface="Rubik"/>
                <a:ea typeface="Rubik"/>
                <a:cs typeface="Rubik"/>
                <a:hlinkClick r:id="rId4"/>
              </a:rPr>
              <a:t>Full guide</a:t>
            </a:r>
          </a:p>
        </p:txBody>
      </p:sp>
      <p:sp>
        <p:nvSpPr>
          <p:cNvPr id="613" name="Slide number"/>
          <p:cNvSpPr txBox="1"/>
          <p:nvPr/>
        </p:nvSpPr>
        <p:spPr>
          <a:xfrm>
            <a:off x="7863840" y="475488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fld id="{B6F15528-21DE-4FAA-801E-634DDDAF4B2B}" type="slidenum"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4</a:t>
            </a:fld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/13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Process of proving circuits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Oval 591"/>
          <p:cNvSpPr/>
          <p:nvPr/>
        </p:nvSpPr>
        <p:spPr>
          <a:xfrm>
            <a:off x="850392" y="1325880"/>
            <a:ext cx="585216" cy="585216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593" name="Right Arrow 592"/>
          <p:cNvSpPr/>
          <p:nvPr/>
        </p:nvSpPr>
        <p:spPr>
          <a:xfrm>
            <a:off x="1554480" y="1536192"/>
            <a:ext cx="548640" cy="164592"/>
          </a:xfrm>
          <a:prstGeom prst="rightArrow">
            <a:avLst/>
          </a:prstGeom>
          <a:solidFill>
            <a:srgbClr val="C9D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TextBox 593"/>
          <p:cNvSpPr txBox="1"/>
          <p:nvPr/>
        </p:nvSpPr>
        <p:spPr>
          <a:xfrm>
            <a:off x="484632" y="2011680"/>
            <a:ext cx="1316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Write</a:t>
            </a:r>
          </a:p>
        </p:txBody>
      </p:sp>
      <p:sp>
        <p:nvSpPr>
          <p:cNvPr id="595" name="TextBox 594"/>
          <p:cNvSpPr txBox="1"/>
          <p:nvPr/>
        </p:nvSpPr>
        <p:spPr>
          <a:xfrm>
            <a:off x="457200" y="233172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circuit.circom</a:t>
            </a:r>
          </a:p>
        </p:txBody>
      </p:sp>
      <p:sp>
        <p:nvSpPr>
          <p:cNvPr id="596" name="Oval 595"/>
          <p:cNvSpPr/>
          <p:nvPr/>
        </p:nvSpPr>
        <p:spPr>
          <a:xfrm>
            <a:off x="2221992" y="1325880"/>
            <a:ext cx="585216" cy="585216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597" name="Right Arrow 596"/>
          <p:cNvSpPr/>
          <p:nvPr/>
        </p:nvSpPr>
        <p:spPr>
          <a:xfrm>
            <a:off x="2926080" y="1536192"/>
            <a:ext cx="548640" cy="164592"/>
          </a:xfrm>
          <a:prstGeom prst="rightArrow">
            <a:avLst/>
          </a:prstGeom>
          <a:solidFill>
            <a:srgbClr val="C9D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TextBox 597"/>
          <p:cNvSpPr txBox="1"/>
          <p:nvPr/>
        </p:nvSpPr>
        <p:spPr>
          <a:xfrm>
            <a:off x="1856232" y="2011680"/>
            <a:ext cx="1316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Compile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1828800" y="233172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.r1cs  .wasm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.sym</a:t>
            </a:r>
          </a:p>
        </p:txBody>
      </p:sp>
      <p:sp>
        <p:nvSpPr>
          <p:cNvPr id="600" name="Oval 599"/>
          <p:cNvSpPr/>
          <p:nvPr/>
        </p:nvSpPr>
        <p:spPr>
          <a:xfrm>
            <a:off x="3593592" y="1325880"/>
            <a:ext cx="585216" cy="585216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601" name="Right Arrow 600"/>
          <p:cNvSpPr/>
          <p:nvPr/>
        </p:nvSpPr>
        <p:spPr>
          <a:xfrm>
            <a:off x="4297680" y="1536192"/>
            <a:ext cx="548640" cy="164592"/>
          </a:xfrm>
          <a:prstGeom prst="rightArrow">
            <a:avLst/>
          </a:prstGeom>
          <a:solidFill>
            <a:srgbClr val="C9D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TextBox 601"/>
          <p:cNvSpPr txBox="1"/>
          <p:nvPr/>
        </p:nvSpPr>
        <p:spPr>
          <a:xfrm>
            <a:off x="3227832" y="2011680"/>
            <a:ext cx="1316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Witness</a:t>
            </a:r>
          </a:p>
        </p:txBody>
      </p:sp>
      <p:sp>
        <p:nvSpPr>
          <p:cNvPr id="603" name="TextBox 602"/>
          <p:cNvSpPr txBox="1"/>
          <p:nvPr/>
        </p:nvSpPr>
        <p:spPr>
          <a:xfrm>
            <a:off x="3200400" y="233172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witness.wtns</a:t>
            </a:r>
          </a:p>
        </p:txBody>
      </p:sp>
      <p:sp>
        <p:nvSpPr>
          <p:cNvPr id="604" name="Oval 603"/>
          <p:cNvSpPr/>
          <p:nvPr/>
        </p:nvSpPr>
        <p:spPr>
          <a:xfrm>
            <a:off x="4965192" y="1325880"/>
            <a:ext cx="585216" cy="585216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605" name="Right Arrow 604"/>
          <p:cNvSpPr/>
          <p:nvPr/>
        </p:nvSpPr>
        <p:spPr>
          <a:xfrm>
            <a:off x="5669280" y="1536192"/>
            <a:ext cx="548640" cy="164592"/>
          </a:xfrm>
          <a:prstGeom prst="rightArrow">
            <a:avLst/>
          </a:prstGeom>
          <a:solidFill>
            <a:srgbClr val="C9D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TextBox 605"/>
          <p:cNvSpPr txBox="1"/>
          <p:nvPr/>
        </p:nvSpPr>
        <p:spPr>
          <a:xfrm>
            <a:off x="4599432" y="2011680"/>
            <a:ext cx="1316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Setup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4572000" y="233172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.ptau → .zkey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verification_key</a:t>
            </a:r>
          </a:p>
        </p:txBody>
      </p:sp>
      <p:sp>
        <p:nvSpPr>
          <p:cNvPr id="608" name="Oval 607"/>
          <p:cNvSpPr/>
          <p:nvPr/>
        </p:nvSpPr>
        <p:spPr>
          <a:xfrm>
            <a:off x="6336792" y="1325880"/>
            <a:ext cx="585216" cy="585216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5</a:t>
            </a:r>
          </a:p>
        </p:txBody>
      </p:sp>
      <p:sp>
        <p:nvSpPr>
          <p:cNvPr id="609" name="Right Arrow 608"/>
          <p:cNvSpPr/>
          <p:nvPr/>
        </p:nvSpPr>
        <p:spPr>
          <a:xfrm>
            <a:off x="7040880" y="1536192"/>
            <a:ext cx="548640" cy="164592"/>
          </a:xfrm>
          <a:prstGeom prst="rightArrow">
            <a:avLst/>
          </a:prstGeom>
          <a:solidFill>
            <a:srgbClr val="C9D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TextBox 609"/>
          <p:cNvSpPr txBox="1"/>
          <p:nvPr/>
        </p:nvSpPr>
        <p:spPr>
          <a:xfrm>
            <a:off x="5971032" y="2011680"/>
            <a:ext cx="1316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Prove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5943600" y="233172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proof.json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public.json</a:t>
            </a:r>
          </a:p>
        </p:txBody>
      </p:sp>
      <p:sp>
        <p:nvSpPr>
          <p:cNvPr id="612" name="Oval 611"/>
          <p:cNvSpPr/>
          <p:nvPr/>
        </p:nvSpPr>
        <p:spPr>
          <a:xfrm>
            <a:off x="7708392" y="1325880"/>
            <a:ext cx="585216" cy="585216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6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7342631" y="2011680"/>
            <a:ext cx="1316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Verify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7315200" y="233172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true / false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4546A"/>
                </a:solidFill>
                <a:latin typeface="Courier New"/>
                <a:ea typeface="Courier New"/>
                <a:cs typeface="Courier New"/>
              </a:rPr>
              <a:t>verifier.sol</a:t>
            </a:r>
          </a:p>
        </p:txBody>
      </p:sp>
      <p:sp>
        <p:nvSpPr>
          <p:cNvPr id="615" name="circom compiler + generated WASM"/>
          <p:cNvSpPr/>
          <p:nvPr/>
        </p:nvSpPr>
        <p:spPr>
          <a:xfrm>
            <a:off x="502920" y="301752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TextBox 615"/>
          <p:cNvSpPr txBox="1"/>
          <p:nvPr/>
        </p:nvSpPr>
        <p:spPr>
          <a:xfrm>
            <a:off x="685800" y="3108960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1B5FF"/>
                </a:solidFill>
                <a:latin typeface="Rubik"/>
                <a:ea typeface="Rubik"/>
                <a:cs typeface="Rubik"/>
              </a:rPr>
              <a:t>circom compiler + generated WASM</a:t>
            </a:r>
          </a:p>
          <a:p>
            <a:pPr algn="l"/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Circuit becomes a constraint system (R1CS). The WASM program computes the values of all signals from inputs.json.</a:t>
            </a:r>
          </a:p>
        </p:txBody>
      </p:sp>
      <p:sp>
        <p:nvSpPr>
          <p:cNvPr id="617" name="snarkjs  (Groth16  or  PLONK)"/>
          <p:cNvSpPr/>
          <p:nvPr/>
        </p:nvSpPr>
        <p:spPr>
          <a:xfrm>
            <a:off x="4617720" y="301752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TextBox 617"/>
          <p:cNvSpPr txBox="1"/>
          <p:nvPr/>
        </p:nvSpPr>
        <p:spPr>
          <a:xfrm>
            <a:off x="4800600" y="3108960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snarkjs  (Groth16  or  PLONK)</a:t>
            </a:r>
          </a:p>
          <a:p>
            <a:pPr algn="l"/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Setup produces proving/verification keys. Prover uses .zkey + witness; verifier needs only the vkey and public signals.</a:t>
            </a:r>
          </a:p>
        </p:txBody>
      </p:sp>
      <p:sp>
        <p:nvSpPr>
          <p:cNvPr id="619" name="Slide number"/>
          <p:cNvSpPr txBox="1"/>
          <p:nvPr/>
        </p:nvSpPr>
        <p:spPr>
          <a:xfrm>
            <a:off x="7863840" y="475488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fld id="{B6F15528-21DE-4FAA-801E-634DDDAF4B2B}" type="slidenum"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5</a:t>
            </a:fld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/13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Example: guess the number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circuit.circom panel"/>
          <p:cNvSpPr/>
          <p:nvPr/>
        </p:nvSpPr>
        <p:spPr>
          <a:xfrm>
            <a:off x="457200" y="1188720"/>
            <a:ext cx="4800600" cy="2971800"/>
          </a:xfrm>
          <a:prstGeom prst="roundRect">
            <a:avLst>
              <a:gd name="adj" fmla="val 1846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circuit.circom"/>
          <p:cNvSpPr txBox="1"/>
          <p:nvPr/>
        </p:nvSpPr>
        <p:spPr>
          <a:xfrm>
            <a:off x="640080" y="1325880"/>
            <a:ext cx="4434840" cy="26974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template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guessTheNumber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5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signal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input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number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 </a:t>
            </a:r>
            <a:r>
              <a:rPr sz="1050" b="0" i="0">
                <a:solidFill>
                  <a:srgbClr val="5E6E84"/>
                </a:solidFill>
                <a:latin typeface="Courier New"/>
                <a:ea typeface="Courier New"/>
                <a:cs typeface="Courier New"/>
              </a:rPr>
              <a:t>// public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5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signal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input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solution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sz="1050" b="0" i="0">
                <a:solidFill>
                  <a:srgbClr val="5E6E84"/>
                </a:solidFill>
                <a:latin typeface="Courier New"/>
                <a:ea typeface="Courier New"/>
                <a:cs typeface="Courier New"/>
              </a:rPr>
              <a:t>// private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5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signal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input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commit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 </a:t>
            </a:r>
            <a:r>
              <a:rPr sz="1050" b="0" i="0">
                <a:solidFill>
                  <a:srgbClr val="5E6E84"/>
                </a:solidFill>
                <a:latin typeface="Courier New"/>
                <a:ea typeface="Courier New"/>
                <a:cs typeface="Courier New"/>
              </a:rPr>
              <a:t>// public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5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signal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input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salt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   </a:t>
            </a:r>
            <a:r>
              <a:rPr sz="1050" b="0" i="0">
                <a:solidFill>
                  <a:srgbClr val="5E6E84"/>
                </a:solidFill>
                <a:latin typeface="Courier New"/>
                <a:ea typeface="Courier New"/>
                <a:cs typeface="Courier New"/>
              </a:rPr>
              <a:t>// private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5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signal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output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out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5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component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commit_calc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Poseidon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commit_calc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inputs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]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solution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commit_calc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inputs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]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salt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commit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commit_calc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out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5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component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IsEqual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in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]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number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in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]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solution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out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out</a:t>
            </a: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594" name="Idea"/>
          <p:cNvSpPr/>
          <p:nvPr/>
        </p:nvSpPr>
        <p:spPr>
          <a:xfrm>
            <a:off x="5440680" y="1188720"/>
            <a:ext cx="3246120" cy="777240"/>
          </a:xfrm>
          <a:prstGeom prst="roundRect">
            <a:avLst>
              <a:gd name="adj" fmla="val 7058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5577840" y="1243584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Idea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Secret number hidden behind a Poseidon commitment; prove whether a guess is right without revealing it.</a:t>
            </a:r>
          </a:p>
        </p:txBody>
      </p:sp>
      <p:sp>
        <p:nvSpPr>
          <p:cNvPr id="596" name="Constraint"/>
          <p:cNvSpPr/>
          <p:nvPr/>
        </p:nvSpPr>
        <p:spPr>
          <a:xfrm>
            <a:off x="5440680" y="2057400"/>
            <a:ext cx="3246120" cy="457200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5577840" y="2112264"/>
            <a:ext cx="301752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Constraint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commit === Poseidon(solution, salt)</a:t>
            </a:r>
          </a:p>
        </p:txBody>
      </p:sp>
      <p:sp>
        <p:nvSpPr>
          <p:cNvPr id="598" name="Output"/>
          <p:cNvSpPr/>
          <p:nvPr/>
        </p:nvSpPr>
        <p:spPr>
          <a:xfrm>
            <a:off x="5440680" y="2606040"/>
            <a:ext cx="3246120" cy="457200"/>
          </a:xfrm>
          <a:prstGeom prst="roundRect">
            <a:avLst>
              <a:gd name="adj" fmla="val 12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TextBox 598"/>
          <p:cNvSpPr txBox="1"/>
          <p:nvPr/>
        </p:nvSpPr>
        <p:spPr>
          <a:xfrm>
            <a:off x="5577840" y="2660904"/>
            <a:ext cx="301752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Output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out = 1  iff  number == solution</a:t>
            </a:r>
          </a:p>
        </p:txBody>
      </p:sp>
      <p:sp>
        <p:nvSpPr>
          <p:cNvPr id="600" name="Operators"/>
          <p:cNvSpPr/>
          <p:nvPr/>
        </p:nvSpPr>
        <p:spPr>
          <a:xfrm>
            <a:off x="5440680" y="3154680"/>
            <a:ext cx="3246120" cy="914400"/>
          </a:xfrm>
          <a:prstGeom prst="roundRect">
            <a:avLst>
              <a:gd name="adj" fmla="val 6000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TextBox 600"/>
          <p:cNvSpPr txBox="1"/>
          <p:nvPr/>
        </p:nvSpPr>
        <p:spPr>
          <a:xfrm>
            <a:off x="5577840" y="3209544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Operators</a:t>
            </a:r>
          </a:p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&lt;==</a:t>
            </a: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  assign + constrain
</a:t>
            </a:r>
            <a:r>
              <a:rPr sz="1100" b="1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===</a:t>
            </a: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  constrain only
</a:t>
            </a:r>
            <a:r>
              <a:rPr sz="1100" b="1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&lt;--</a:t>
            </a: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  assign only (unsafe alone)</a:t>
            </a:r>
          </a:p>
        </p:txBody>
      </p:sp>
      <p:sp>
        <p:nvSpPr>
          <p:cNvPr id="602" name="Footer"/>
          <p:cNvSpPr txBox="1"/>
          <p:nvPr/>
        </p:nvSpPr>
        <p:spPr>
          <a:xfrm>
            <a:off x="868680" y="4224528"/>
            <a:ext cx="7818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Also in circuit.circom: </a:t>
            </a:r>
            <a:r>
              <a:rPr sz="10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include</a:t>
            </a:r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poseidon + comparators from circomlib,  </a:t>
            </a:r>
            <a:r>
              <a:rPr sz="10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component main {public [number, commit]}</a:t>
            </a:r>
          </a:p>
        </p:txBody>
      </p:sp>
      <p:sp>
        <p:nvSpPr>
          <p:cNvPr id="603" name="Slide number"/>
          <p:cNvSpPr txBox="1"/>
          <p:nvPr/>
        </p:nvSpPr>
        <p:spPr>
          <a:xfrm>
            <a:off x="7863840" y="475488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fld id="{B6F15528-21DE-4FAA-801E-634DDDAF4B2B}" type="slidenum"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6</a:t>
            </a:fld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/13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Compile &amp; compute the witness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Oval 591"/>
          <p:cNvSpPr/>
          <p:nvPr/>
        </p:nvSpPr>
        <p:spPr>
          <a:xfrm>
            <a:off x="457200" y="1207008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593" name="Step 1"/>
          <p:cNvSpPr txBox="1"/>
          <p:nvPr/>
        </p:nvSpPr>
        <p:spPr>
          <a:xfrm>
            <a:off x="914400" y="1188720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Dependencies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circomlib, snarkjs, poseidon-lite</a:t>
            </a:r>
          </a:p>
        </p:txBody>
      </p:sp>
      <p:sp>
        <p:nvSpPr>
          <p:cNvPr id="594" name="Step 1 command"/>
          <p:cNvSpPr/>
          <p:nvPr/>
        </p:nvSpPr>
        <p:spPr>
          <a:xfrm>
            <a:off x="914400" y="1435608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Step 1 text"/>
          <p:cNvSpPr txBox="1"/>
          <p:nvPr/>
        </p:nvSpPr>
        <p:spPr>
          <a:xfrm>
            <a:off x="1051560" y="1435608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98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npm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install</a:t>
            </a:r>
          </a:p>
        </p:txBody>
      </p:sp>
      <p:sp>
        <p:nvSpPr>
          <p:cNvPr id="596" name="Oval 595"/>
          <p:cNvSpPr/>
          <p:nvPr/>
        </p:nvSpPr>
        <p:spPr>
          <a:xfrm>
            <a:off x="457200" y="1920240"/>
            <a:ext cx="329184" cy="329184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597" name="Step 2"/>
          <p:cNvSpPr txBox="1"/>
          <p:nvPr/>
        </p:nvSpPr>
        <p:spPr>
          <a:xfrm>
            <a:off x="914400" y="1901952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Inputs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computes the commitment, writes inputs.json</a:t>
            </a:r>
          </a:p>
        </p:txBody>
      </p:sp>
      <p:sp>
        <p:nvSpPr>
          <p:cNvPr id="598" name="Step 2 command"/>
          <p:cNvSpPr/>
          <p:nvPr/>
        </p:nvSpPr>
        <p:spPr>
          <a:xfrm>
            <a:off x="914400" y="2148840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Step 2 text"/>
          <p:cNvSpPr txBox="1"/>
          <p:nvPr/>
        </p:nvSpPr>
        <p:spPr>
          <a:xfrm>
            <a:off x="1051560" y="2148840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98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node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generate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inputs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</a:t>
            </a:r>
          </a:p>
        </p:txBody>
      </p:sp>
      <p:sp>
        <p:nvSpPr>
          <p:cNvPr id="600" name="Oval 599"/>
          <p:cNvSpPr/>
          <p:nvPr/>
        </p:nvSpPr>
        <p:spPr>
          <a:xfrm>
            <a:off x="457200" y="2633472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601" name="Step 3"/>
          <p:cNvSpPr txBox="1"/>
          <p:nvPr/>
        </p:nvSpPr>
        <p:spPr>
          <a:xfrm>
            <a:off x="914400" y="2615184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Compile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.r1cs constraints  ·  .wasm witness program  ·  .sym signal names</a:t>
            </a:r>
          </a:p>
        </p:txBody>
      </p:sp>
      <p:sp>
        <p:nvSpPr>
          <p:cNvPr id="602" name="Step 3 command"/>
          <p:cNvSpPr/>
          <p:nvPr/>
        </p:nvSpPr>
        <p:spPr>
          <a:xfrm>
            <a:off x="914400" y="2862072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Step 3 text"/>
          <p:cNvSpPr txBox="1"/>
          <p:nvPr/>
        </p:nvSpPr>
        <p:spPr>
          <a:xfrm>
            <a:off x="1051560" y="2862072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98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mkdir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artifacts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circuit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circom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r1cs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wasm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sym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output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artifacts</a:t>
            </a:r>
          </a:p>
        </p:txBody>
      </p:sp>
      <p:sp>
        <p:nvSpPr>
          <p:cNvPr id="604" name="Oval 603"/>
          <p:cNvSpPr/>
          <p:nvPr/>
        </p:nvSpPr>
        <p:spPr>
          <a:xfrm>
            <a:off x="457200" y="3346703"/>
            <a:ext cx="329184" cy="329184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605" name="Step 4"/>
          <p:cNvSpPr txBox="1"/>
          <p:nvPr/>
        </p:nvSpPr>
        <p:spPr>
          <a:xfrm>
            <a:off x="914400" y="3328415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Witness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run in artifacts/  →  witness.wtns: values of all signals, stays private</a:t>
            </a:r>
          </a:p>
        </p:txBody>
      </p:sp>
      <p:sp>
        <p:nvSpPr>
          <p:cNvPr id="606" name="Step 4 command"/>
          <p:cNvSpPr/>
          <p:nvPr/>
        </p:nvSpPr>
        <p:spPr>
          <a:xfrm>
            <a:off x="914400" y="3575303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Step 4 text"/>
          <p:cNvSpPr txBox="1"/>
          <p:nvPr/>
        </p:nvSpPr>
        <p:spPr>
          <a:xfrm>
            <a:off x="1051560" y="3575303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98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node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circuit_js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generate_witness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circuit_js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circuit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wasm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inputs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witness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098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wtns</a:t>
            </a:r>
          </a:p>
        </p:txBody>
      </p:sp>
      <p:sp>
        <p:nvSpPr>
          <p:cNvPr id="608" name="Slide number"/>
          <p:cNvSpPr txBox="1"/>
          <p:nvPr/>
        </p:nvSpPr>
        <p:spPr>
          <a:xfrm>
            <a:off x="7863840" y="475488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fld id="{B6F15528-21DE-4FAA-801E-634DDDAF4B2B}" type="slidenum"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7</a:t>
            </a:fld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/13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Trusted setup: powers of tau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Phase 1  ·  universal"/>
          <p:cNvSpPr/>
          <p:nvPr/>
        </p:nvSpPr>
        <p:spPr>
          <a:xfrm>
            <a:off x="457200" y="1188720"/>
            <a:ext cx="4023360" cy="2926080"/>
          </a:xfrm>
          <a:prstGeom prst="roundRect">
            <a:avLst>
              <a:gd name="adj" fmla="val 1875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TextBox 592"/>
          <p:cNvSpPr txBox="1"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1B5FF"/>
                </a:solidFill>
                <a:latin typeface="Rubik"/>
                <a:ea typeface="Rubik"/>
                <a:cs typeface="Rubik"/>
              </a:rPr>
              <a:t>Phase 1  ·  universal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640080" y="169164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182880">
              <a:lnSpc>
                <a:spcPct val="100000"/>
              </a:lnSpc>
              <a:spcAft>
                <a:spcPts val="400"/>
              </a:spcAft>
              <a:buClr>
                <a:srgbClr val="31B5FF"/>
              </a:buClr>
              <a:buFont typeface="Arial"/>
              <a:buChar char="●"/>
            </a:pPr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Independent of the circuit, depends only on max size: 2^12 = 4096 constraints</a:t>
            </a:r>
          </a:p>
          <a:p>
            <a:pPr algn="l" marL="201168" indent="-182880">
              <a:lnSpc>
                <a:spcPct val="100000"/>
              </a:lnSpc>
              <a:spcAft>
                <a:spcPts val="400"/>
              </a:spcAft>
              <a:buClr>
                <a:srgbClr val="31B5FF"/>
              </a:buClr>
              <a:buFont typeface="Arial"/>
              <a:buChar char="●"/>
            </a:pPr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Multi-party ceremony: secure if at least one contributor is honest</a:t>
            </a:r>
          </a:p>
          <a:p>
            <a:pPr algn="l" marL="201168" indent="-182880">
              <a:lnSpc>
                <a:spcPct val="100000"/>
              </a:lnSpc>
              <a:spcAft>
                <a:spcPts val="400"/>
              </a:spcAft>
              <a:buClr>
                <a:srgbClr val="31B5FF"/>
              </a:buClr>
              <a:buFont typeface="Arial"/>
              <a:buChar char="●"/>
            </a:pPr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Can reuse a public ceremony (perpetual powers of tau)</a:t>
            </a:r>
          </a:p>
        </p:txBody>
      </p:sp>
      <p:sp>
        <p:nvSpPr>
          <p:cNvPr id="595" name="Phase 1  ·  universal commands"/>
          <p:cNvSpPr/>
          <p:nvPr/>
        </p:nvSpPr>
        <p:spPr>
          <a:xfrm>
            <a:off x="640080" y="3090672"/>
            <a:ext cx="3657600" cy="86868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TextBox 595"/>
          <p:cNvSpPr txBox="1"/>
          <p:nvPr/>
        </p:nvSpPr>
        <p:spPr>
          <a:xfrm>
            <a:off x="777240" y="3154680"/>
            <a:ext cx="3383280" cy="7315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powersoftau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new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→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contribute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→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beacon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→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prepare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phase2</a:t>
            </a:r>
          </a:p>
        </p:txBody>
      </p:sp>
      <p:sp>
        <p:nvSpPr>
          <p:cNvPr id="597" name="Phase 2  ·  circuit-specific"/>
          <p:cNvSpPr/>
          <p:nvPr/>
        </p:nvSpPr>
        <p:spPr>
          <a:xfrm>
            <a:off x="4663440" y="1188720"/>
            <a:ext cx="4023360" cy="2926080"/>
          </a:xfrm>
          <a:prstGeom prst="roundRect">
            <a:avLst>
              <a:gd name="adj" fmla="val 1875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TextBox 597"/>
          <p:cNvSpPr txBox="1"/>
          <p:nvPr/>
        </p:nvSpPr>
        <p:spPr>
          <a:xfrm>
            <a:off x="4846320" y="12801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Phase 2  ·  circuit-specific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4846320" y="169164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182880">
              <a:lnSpc>
                <a:spcPct val="100000"/>
              </a:lnSpc>
              <a:spcAft>
                <a:spcPts val="400"/>
              </a:spcAft>
              <a:buClr>
                <a:srgbClr val="31B5FF"/>
              </a:buClr>
              <a:buFont typeface="Arial"/>
              <a:buChar char="●"/>
            </a:pPr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Depends on circuit.r1cs, redo it every time the circuit changes</a:t>
            </a:r>
          </a:p>
          <a:p>
            <a:pPr algn="l" marL="201168" indent="-182880">
              <a:lnSpc>
                <a:spcPct val="100000"/>
              </a:lnSpc>
              <a:spcAft>
                <a:spcPts val="400"/>
              </a:spcAft>
              <a:buClr>
                <a:srgbClr val="31B5FF"/>
              </a:buClr>
              <a:buFont typeface="Arial"/>
              <a:buChar char="●"/>
            </a:pPr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Needed only for Groth16</a:t>
            </a:r>
          </a:p>
          <a:p>
            <a:pPr algn="l" marL="201168" indent="-182880">
              <a:lnSpc>
                <a:spcPct val="100000"/>
              </a:lnSpc>
              <a:spcAft>
                <a:spcPts val="400"/>
              </a:spcAft>
              <a:buClr>
                <a:srgbClr val="31B5FF"/>
              </a:buClr>
              <a:buFont typeface="Arial"/>
              <a:buChar char="●"/>
            </a:pPr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PLONK skips it: plonk setup uses the phase 1 file directly</a:t>
            </a:r>
          </a:p>
        </p:txBody>
      </p:sp>
      <p:sp>
        <p:nvSpPr>
          <p:cNvPr id="600" name="Phase 2  ·  circuit-specific commands"/>
          <p:cNvSpPr/>
          <p:nvPr/>
        </p:nvSpPr>
        <p:spPr>
          <a:xfrm>
            <a:off x="4846320" y="3090672"/>
            <a:ext cx="3657600" cy="86868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TextBox 600"/>
          <p:cNvSpPr txBox="1"/>
          <p:nvPr/>
        </p:nvSpPr>
        <p:spPr>
          <a:xfrm>
            <a:off x="4983479" y="3154680"/>
            <a:ext cx="3383280" cy="7315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setup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→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contribute</a:t>
            </a:r>
          </a:p>
        </p:txBody>
      </p:sp>
      <p:sp>
        <p:nvSpPr>
          <p:cNvPr id="602" name="Footer"/>
          <p:cNvSpPr txBox="1"/>
          <p:nvPr/>
        </p:nvSpPr>
        <p:spPr>
          <a:xfrm>
            <a:off x="868680" y="4224528"/>
            <a:ext cx="7818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snarkjs docs: </a:t>
            </a:r>
            <a:r>
              <a:rPr sz="1000" b="0" i="0" u="sng">
                <a:solidFill>
                  <a:srgbClr val="3986F7"/>
                </a:solidFill>
                <a:latin typeface="Rubik"/>
                <a:ea typeface="Rubik"/>
                <a:cs typeface="Rubik"/>
                <a:hlinkClick r:id="rId3"/>
              </a:rPr>
              <a:t>github.com/iden3/snarkjs</a:t>
            </a:r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·   </a:t>
            </a:r>
            <a:r>
              <a:rPr sz="1000" b="0" i="0" u="sng">
                <a:solidFill>
                  <a:srgbClr val="3986F7"/>
                </a:solidFill>
                <a:latin typeface="Rubik"/>
                <a:ea typeface="Rubik"/>
                <a:cs typeface="Rubik"/>
                <a:hlinkClick r:id="rId4"/>
              </a:rPr>
              <a:t>perpetual powers of tau</a:t>
            </a:r>
          </a:p>
        </p:txBody>
      </p:sp>
      <p:sp>
        <p:nvSpPr>
          <p:cNvPr id="603" name="Slide number"/>
          <p:cNvSpPr txBox="1"/>
          <p:nvPr/>
        </p:nvSpPr>
        <p:spPr>
          <a:xfrm>
            <a:off x="7863840" y="475488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fld id="{B6F15528-21DE-4FAA-801E-634DDDAF4B2B}" type="slidenum"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8</a:t>
            </a:fld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/13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Proving with Groth16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Oval 591"/>
          <p:cNvSpPr/>
          <p:nvPr/>
        </p:nvSpPr>
        <p:spPr>
          <a:xfrm>
            <a:off x="457200" y="1207008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593" name="Groth16 step 1"/>
          <p:cNvSpPr txBox="1"/>
          <p:nvPr/>
        </p:nvSpPr>
        <p:spPr>
          <a:xfrm>
            <a:off x="914400" y="1188720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Setup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circuit-specific, uses a public phase 1 file</a:t>
            </a:r>
          </a:p>
        </p:txBody>
      </p:sp>
      <p:sp>
        <p:nvSpPr>
          <p:cNvPr id="594" name="Groth16 step 1 command"/>
          <p:cNvSpPr/>
          <p:nvPr/>
        </p:nvSpPr>
        <p:spPr>
          <a:xfrm>
            <a:off x="914400" y="1435608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oth16 step 1 text"/>
          <p:cNvSpPr txBox="1"/>
          <p:nvPr/>
        </p:nvSpPr>
        <p:spPr>
          <a:xfrm>
            <a:off x="1051560" y="1435608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37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setup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circuit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r1cs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powersOfTau28_hez_final_12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ptau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circuit_0000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zkey</a:t>
            </a:r>
          </a:p>
        </p:txBody>
      </p:sp>
      <p:sp>
        <p:nvSpPr>
          <p:cNvPr id="596" name="Oval 595"/>
          <p:cNvSpPr/>
          <p:nvPr/>
        </p:nvSpPr>
        <p:spPr>
          <a:xfrm>
            <a:off x="457200" y="1792224"/>
            <a:ext cx="329184" cy="329184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597" name="Groth16 step 2"/>
          <p:cNvSpPr txBox="1"/>
          <p:nvPr/>
        </p:nvSpPr>
        <p:spPr>
          <a:xfrm>
            <a:off x="914400" y="1773936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Contribute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phase 2 ceremony, asks for random text</a:t>
            </a:r>
          </a:p>
        </p:txBody>
      </p:sp>
      <p:sp>
        <p:nvSpPr>
          <p:cNvPr id="598" name="Groth16 step 2 command"/>
          <p:cNvSpPr/>
          <p:nvPr/>
        </p:nvSpPr>
        <p:spPr>
          <a:xfrm>
            <a:off x="914400" y="2020824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oth16 step 2 text"/>
          <p:cNvSpPr txBox="1"/>
          <p:nvPr/>
        </p:nvSpPr>
        <p:spPr>
          <a:xfrm>
            <a:off x="1051560" y="2020824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37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contribute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circuit_0000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circuit_final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name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137" b="0" i="0">
                <a:solidFill>
                  <a:srgbClr val="A64B00"/>
                </a:solidFill>
                <a:latin typeface="Courier New"/>
                <a:ea typeface="Courier New"/>
                <a:cs typeface="Courier New"/>
              </a:rPr>
              <a:t>"mihailo"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v</a:t>
            </a:r>
          </a:p>
        </p:txBody>
      </p:sp>
      <p:sp>
        <p:nvSpPr>
          <p:cNvPr id="600" name="Oval 599"/>
          <p:cNvSpPr/>
          <p:nvPr/>
        </p:nvSpPr>
        <p:spPr>
          <a:xfrm>
            <a:off x="457200" y="2377440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601" name="Groth16 step 3"/>
          <p:cNvSpPr txBox="1"/>
          <p:nvPr/>
        </p:nvSpPr>
        <p:spPr>
          <a:xfrm>
            <a:off x="914400" y="2359152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Verification key</a:t>
            </a:r>
          </a:p>
        </p:txBody>
      </p:sp>
      <p:sp>
        <p:nvSpPr>
          <p:cNvPr id="602" name="Groth16 step 3 command"/>
          <p:cNvSpPr/>
          <p:nvPr/>
        </p:nvSpPr>
        <p:spPr>
          <a:xfrm>
            <a:off x="914400" y="2606040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oth16 step 3 text"/>
          <p:cNvSpPr txBox="1"/>
          <p:nvPr/>
        </p:nvSpPr>
        <p:spPr>
          <a:xfrm>
            <a:off x="1051560" y="2606040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37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export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verificationkey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circuit_final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verification_key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json</a:t>
            </a:r>
          </a:p>
        </p:txBody>
      </p:sp>
      <p:sp>
        <p:nvSpPr>
          <p:cNvPr id="604" name="Oval 603"/>
          <p:cNvSpPr/>
          <p:nvPr/>
        </p:nvSpPr>
        <p:spPr>
          <a:xfrm>
            <a:off x="457200" y="2962656"/>
            <a:ext cx="329184" cy="329184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605" name="Groth16 step 4"/>
          <p:cNvSpPr txBox="1"/>
          <p:nvPr/>
        </p:nvSpPr>
        <p:spPr>
          <a:xfrm>
            <a:off x="914400" y="2944368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Prove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proof.json: only 3 curve points  ·  public.json: [out, number, commit]</a:t>
            </a:r>
          </a:p>
        </p:txBody>
      </p:sp>
      <p:sp>
        <p:nvSpPr>
          <p:cNvPr id="606" name="Groth16 step 4 command"/>
          <p:cNvSpPr/>
          <p:nvPr/>
        </p:nvSpPr>
        <p:spPr>
          <a:xfrm>
            <a:off x="914400" y="3191256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oth16 step 4 text"/>
          <p:cNvSpPr txBox="1"/>
          <p:nvPr/>
        </p:nvSpPr>
        <p:spPr>
          <a:xfrm>
            <a:off x="1051560" y="3191256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37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prove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circuit_final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witness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wtns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proof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public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json</a:t>
            </a:r>
          </a:p>
        </p:txBody>
      </p:sp>
      <p:sp>
        <p:nvSpPr>
          <p:cNvPr id="608" name="Oval 607"/>
          <p:cNvSpPr/>
          <p:nvPr/>
        </p:nvSpPr>
        <p:spPr>
          <a:xfrm>
            <a:off x="457200" y="3547872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5</a:t>
            </a:r>
          </a:p>
        </p:txBody>
      </p:sp>
      <p:sp>
        <p:nvSpPr>
          <p:cNvPr id="609" name="Groth16 step 5"/>
          <p:cNvSpPr txBox="1"/>
          <p:nvPr/>
        </p:nvSpPr>
        <p:spPr>
          <a:xfrm>
            <a:off x="914400" y="3529584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Verify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prints OK!  ·  on-chain: zkey export solidityverifier → verifier.sol</a:t>
            </a:r>
          </a:p>
        </p:txBody>
      </p:sp>
      <p:sp>
        <p:nvSpPr>
          <p:cNvPr id="610" name="Groth16 step 5 command"/>
          <p:cNvSpPr/>
          <p:nvPr/>
        </p:nvSpPr>
        <p:spPr>
          <a:xfrm>
            <a:off x="914400" y="3776472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oth16 step 5 text"/>
          <p:cNvSpPr txBox="1"/>
          <p:nvPr/>
        </p:nvSpPr>
        <p:spPr>
          <a:xfrm>
            <a:off x="1051560" y="3776472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37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verify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verification_key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public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proof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37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json</a:t>
            </a:r>
          </a:p>
        </p:txBody>
      </p:sp>
      <p:sp>
        <p:nvSpPr>
          <p:cNvPr id="612" name="Slide number"/>
          <p:cNvSpPr txBox="1"/>
          <p:nvPr/>
        </p:nvSpPr>
        <p:spPr>
          <a:xfrm>
            <a:off x="7863840" y="475488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fld id="{B6F15528-21DE-4FAA-801E-634DDDAF4B2B}" type="slidenum"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9</a:t>
            </a:fld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/13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Proving with PLONK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Oval 591"/>
          <p:cNvSpPr/>
          <p:nvPr/>
        </p:nvSpPr>
        <p:spPr>
          <a:xfrm>
            <a:off x="457200" y="1207008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593" name="PLONK step 1"/>
          <p:cNvSpPr txBox="1"/>
          <p:nvPr/>
        </p:nvSpPr>
        <p:spPr>
          <a:xfrm>
            <a:off x="914400" y="1188720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Phase 1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our own ceremony: then contribute ×3, beacon, prepare phase2</a:t>
            </a:r>
          </a:p>
        </p:txBody>
      </p:sp>
      <p:sp>
        <p:nvSpPr>
          <p:cNvPr id="594" name="PLONK step 1 command"/>
          <p:cNvSpPr/>
          <p:nvPr/>
        </p:nvSpPr>
        <p:spPr>
          <a:xfrm>
            <a:off x="914400" y="1435608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PLONK step 1 text"/>
          <p:cNvSpPr txBox="1"/>
          <p:nvPr/>
        </p:nvSpPr>
        <p:spPr>
          <a:xfrm>
            <a:off x="1051560" y="1435608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powersoftau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new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bn128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pot12_0000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ptau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v</a:t>
            </a:r>
          </a:p>
        </p:txBody>
      </p:sp>
      <p:sp>
        <p:nvSpPr>
          <p:cNvPr id="596" name="Oval 595"/>
          <p:cNvSpPr/>
          <p:nvPr/>
        </p:nvSpPr>
        <p:spPr>
          <a:xfrm>
            <a:off x="457200" y="1792224"/>
            <a:ext cx="329184" cy="329184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597" name="PLONK step 2"/>
          <p:cNvSpPr txBox="1"/>
          <p:nvPr/>
        </p:nvSpPr>
        <p:spPr>
          <a:xfrm>
            <a:off x="914400" y="1773936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Setup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universal: no circuit-specific contribution</a:t>
            </a:r>
          </a:p>
        </p:txBody>
      </p:sp>
      <p:sp>
        <p:nvSpPr>
          <p:cNvPr id="598" name="PLONK step 2 command"/>
          <p:cNvSpPr/>
          <p:nvPr/>
        </p:nvSpPr>
        <p:spPr>
          <a:xfrm>
            <a:off x="914400" y="2020824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PLONK step 2 text"/>
          <p:cNvSpPr txBox="1"/>
          <p:nvPr/>
        </p:nvSpPr>
        <p:spPr>
          <a:xfrm>
            <a:off x="1051560" y="2020824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plonk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setup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circuit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r1cs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pot12_final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ptau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circuit_final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zkey</a:t>
            </a:r>
          </a:p>
        </p:txBody>
      </p:sp>
      <p:sp>
        <p:nvSpPr>
          <p:cNvPr id="600" name="Oval 599"/>
          <p:cNvSpPr/>
          <p:nvPr/>
        </p:nvSpPr>
        <p:spPr>
          <a:xfrm>
            <a:off x="457200" y="2377440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601" name="PLONK step 3"/>
          <p:cNvSpPr txBox="1"/>
          <p:nvPr/>
        </p:nvSpPr>
        <p:spPr>
          <a:xfrm>
            <a:off x="914400" y="2359152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Verification key</a:t>
            </a:r>
          </a:p>
        </p:txBody>
      </p:sp>
      <p:sp>
        <p:nvSpPr>
          <p:cNvPr id="602" name="PLONK step 3 command"/>
          <p:cNvSpPr/>
          <p:nvPr/>
        </p:nvSpPr>
        <p:spPr>
          <a:xfrm>
            <a:off x="914400" y="2606040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PLONK step 3 text"/>
          <p:cNvSpPr txBox="1"/>
          <p:nvPr/>
        </p:nvSpPr>
        <p:spPr>
          <a:xfrm>
            <a:off x="1051560" y="2606040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export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verificationkey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circuit_final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verification_key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json</a:t>
            </a:r>
          </a:p>
        </p:txBody>
      </p:sp>
      <p:sp>
        <p:nvSpPr>
          <p:cNvPr id="604" name="Oval 603"/>
          <p:cNvSpPr/>
          <p:nvPr/>
        </p:nvSpPr>
        <p:spPr>
          <a:xfrm>
            <a:off x="457200" y="2962656"/>
            <a:ext cx="329184" cy="329184"/>
          </a:xfrm>
          <a:prstGeom prst="ellipse">
            <a:avLst/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605" name="PLONK step 4"/>
          <p:cNvSpPr txBox="1"/>
          <p:nvPr/>
        </p:nvSpPr>
        <p:spPr>
          <a:xfrm>
            <a:off x="914400" y="2944368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Prove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proof.json: 9 curve points + 6 field elements</a:t>
            </a:r>
          </a:p>
        </p:txBody>
      </p:sp>
      <p:sp>
        <p:nvSpPr>
          <p:cNvPr id="606" name="PLONK step 4 command"/>
          <p:cNvSpPr/>
          <p:nvPr/>
        </p:nvSpPr>
        <p:spPr>
          <a:xfrm>
            <a:off x="914400" y="3191256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PLONK step 4 text"/>
          <p:cNvSpPr txBox="1"/>
          <p:nvPr/>
        </p:nvSpPr>
        <p:spPr>
          <a:xfrm>
            <a:off x="1051560" y="3191256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plonk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prove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circuit_final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zkey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witness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wtns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proof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public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json</a:t>
            </a:r>
          </a:p>
        </p:txBody>
      </p:sp>
      <p:sp>
        <p:nvSpPr>
          <p:cNvPr id="608" name="Oval 607"/>
          <p:cNvSpPr/>
          <p:nvPr/>
        </p:nvSpPr>
        <p:spPr>
          <a:xfrm>
            <a:off x="457200" y="3547872"/>
            <a:ext cx="329184" cy="329184"/>
          </a:xfrm>
          <a:prstGeom prst="ellipse">
            <a:avLst/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5</a:t>
            </a:r>
          </a:p>
        </p:txBody>
      </p:sp>
      <p:sp>
        <p:nvSpPr>
          <p:cNvPr id="609" name="PLONK step 5"/>
          <p:cNvSpPr txBox="1"/>
          <p:nvPr/>
        </p:nvSpPr>
        <p:spPr>
          <a:xfrm>
            <a:off x="914400" y="3529584"/>
            <a:ext cx="7772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Verify</a:t>
            </a:r>
            <a:r>
              <a:rPr sz="11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   prints OK!  ·  on-chain: zkey export solidityverifier → verifier.sol</a:t>
            </a:r>
          </a:p>
        </p:txBody>
      </p:sp>
      <p:sp>
        <p:nvSpPr>
          <p:cNvPr id="610" name="PLONK step 5 command"/>
          <p:cNvSpPr/>
          <p:nvPr/>
        </p:nvSpPr>
        <p:spPr>
          <a:xfrm>
            <a:off x="914400" y="3776472"/>
            <a:ext cx="7772400" cy="246888"/>
          </a:xfrm>
          <a:prstGeom prst="roundRect">
            <a:avLst>
              <a:gd name="adj" fmla="val 22222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PLONK step 5 text"/>
          <p:cNvSpPr txBox="1"/>
          <p:nvPr/>
        </p:nvSpPr>
        <p:spPr>
          <a:xfrm>
            <a:off x="1051560" y="3776472"/>
            <a:ext cx="7498079" cy="2468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snarkjs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plonk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verify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verification_key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public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proof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2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json</a:t>
            </a:r>
          </a:p>
        </p:txBody>
      </p:sp>
      <p:sp>
        <p:nvSpPr>
          <p:cNvPr id="612" name="Slide number"/>
          <p:cNvSpPr txBox="1"/>
          <p:nvPr/>
        </p:nvSpPr>
        <p:spPr>
          <a:xfrm>
            <a:off x="7863840" y="475488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fld id="{B6F15528-21DE-4FAA-801E-634DDDAF4B2B}" type="slidenum"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10</a:t>
            </a:fld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/13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Proving in JavaScript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proving-groth16.js panel"/>
          <p:cNvSpPr/>
          <p:nvPr/>
        </p:nvSpPr>
        <p:spPr>
          <a:xfrm>
            <a:off x="457200" y="1188720"/>
            <a:ext cx="5669280" cy="2971800"/>
          </a:xfrm>
          <a:prstGeom prst="roundRect">
            <a:avLst>
              <a:gd name="adj" fmla="val 1846"/>
            </a:avLst>
          </a:prstGeom>
          <a:solidFill>
            <a:srgbClr val="F5F8FD"/>
          </a:solidFill>
          <a:ln w="9525">
            <a:solidFill>
              <a:srgbClr val="C9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proving-groth16.js"/>
          <p:cNvSpPr txBox="1"/>
          <p:nvPr/>
        </p:nvSpPr>
        <p:spPr>
          <a:xfrm>
            <a:off x="640080" y="1325880"/>
            <a:ext cx="5303520" cy="26974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const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{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}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require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100" b="0" i="0">
                <a:solidFill>
                  <a:srgbClr val="A64B00"/>
                </a:solidFill>
                <a:latin typeface="Courier New"/>
                <a:ea typeface="Courier New"/>
                <a:cs typeface="Courier New"/>
              </a:rPr>
              <a:t>"snarkjs"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100" b="0" i="0">
                <a:solidFill>
                  <a:srgbClr val="5E6E84"/>
                </a:solidFill>
                <a:latin typeface="Courier New"/>
                <a:ea typeface="Courier New"/>
                <a:cs typeface="Courier New"/>
              </a:rPr>
              <a:t>// or plonk</a:t>
            </a:r>
          </a:p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const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inputs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parse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readFileSync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100" b="0" i="0">
                <a:solidFill>
                  <a:srgbClr val="A64B00"/>
                </a:solidFill>
                <a:latin typeface="Courier New"/>
                <a:ea typeface="Courier New"/>
                <a:cs typeface="Courier New"/>
              </a:rPr>
              <a:t>"inputs.json"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const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{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proof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publicSignals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}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await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fullProve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(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inputs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100" b="0" i="0">
                <a:solidFill>
                  <a:srgbClr val="A64B00"/>
                </a:solidFill>
                <a:latin typeface="Courier New"/>
                <a:ea typeface="Courier New"/>
                <a:cs typeface="Courier New"/>
              </a:rPr>
              <a:t>"./artifacts-groth16/circuit_js/circuit.wasm"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100" b="0" i="0">
                <a:solidFill>
                  <a:srgbClr val="A64B00"/>
                </a:solidFill>
                <a:latin typeface="Courier New"/>
                <a:ea typeface="Courier New"/>
                <a:cs typeface="Courier New"/>
              </a:rPr>
              <a:t>"./artifacts-groth16/circuit_final.zkey"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const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vKey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JSON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parse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(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readFileSync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100" b="0" i="0">
                <a:solidFill>
                  <a:srgbClr val="A64B00"/>
                </a:solidFill>
                <a:latin typeface="Courier New"/>
                <a:ea typeface="Courier New"/>
                <a:cs typeface="Courier New"/>
              </a:rPr>
              <a:t>"./artifacts-groth16/verification_key.json"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const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ok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1" i="0">
                <a:solidFill>
                  <a:srgbClr val="1B5EC9"/>
                </a:solidFill>
                <a:latin typeface="Courier New"/>
                <a:ea typeface="Courier New"/>
                <a:cs typeface="Courier New"/>
              </a:rPr>
              <a:t>await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groth16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verify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vKey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publicSignals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proof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console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.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log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ok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?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A64B00"/>
                </a:solidFill>
                <a:latin typeface="Courier New"/>
                <a:ea typeface="Courier New"/>
                <a:cs typeface="Courier New"/>
              </a:rPr>
              <a:t>"Verification OK"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100" b="0" i="0">
                <a:solidFill>
                  <a:srgbClr val="A64B00"/>
                </a:solidFill>
                <a:latin typeface="Courier New"/>
                <a:ea typeface="Courier New"/>
                <a:cs typeface="Courier New"/>
              </a:rPr>
              <a:t>"Invalid proof"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100" b="0" i="0">
                <a:solidFill>
                  <a:srgbClr val="06182C"/>
                </a:solidFill>
                <a:latin typeface="Courier New"/>
                <a:ea typeface="Courier New"/>
                <a:cs typeface="Courier New"/>
              </a:rPr>
              <a:t>;</a:t>
            </a:r>
          </a:p>
        </p:txBody>
      </p:sp>
      <p:sp>
        <p:nvSpPr>
          <p:cNvPr id="594" name="fullProve"/>
          <p:cNvSpPr/>
          <p:nvPr/>
        </p:nvSpPr>
        <p:spPr>
          <a:xfrm>
            <a:off x="6309360" y="1188720"/>
            <a:ext cx="2377440" cy="886968"/>
          </a:xfrm>
          <a:prstGeom prst="roundRect">
            <a:avLst>
              <a:gd name="adj" fmla="val 6185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6446520" y="1261872"/>
            <a:ext cx="2148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fullProve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computes the witness and the proof in one step</a:t>
            </a:r>
          </a:p>
        </p:txBody>
      </p:sp>
      <p:sp>
        <p:nvSpPr>
          <p:cNvPr id="596" name="Same API"/>
          <p:cNvSpPr/>
          <p:nvPr/>
        </p:nvSpPr>
        <p:spPr>
          <a:xfrm>
            <a:off x="6309360" y="2231136"/>
            <a:ext cx="2377440" cy="886968"/>
          </a:xfrm>
          <a:prstGeom prst="roundRect">
            <a:avLst>
              <a:gd name="adj" fmla="val 6185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6446520" y="2304288"/>
            <a:ext cx="2148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Same API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plonk.fullProve / plonk.verify with the PLONK artifacts</a:t>
            </a:r>
          </a:p>
        </p:txBody>
      </p:sp>
      <p:sp>
        <p:nvSpPr>
          <p:cNvPr id="598" name="Client-side"/>
          <p:cNvSpPr/>
          <p:nvPr/>
        </p:nvSpPr>
        <p:spPr>
          <a:xfrm>
            <a:off x="6309360" y="3273552"/>
            <a:ext cx="2377440" cy="886968"/>
          </a:xfrm>
          <a:prstGeom prst="roundRect">
            <a:avLst>
              <a:gd name="adj" fmla="val 6185"/>
            </a:avLst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TextBox 598"/>
          <p:cNvSpPr txBox="1"/>
          <p:nvPr/>
        </p:nvSpPr>
        <p:spPr>
          <a:xfrm>
            <a:off x="6446520" y="3346704"/>
            <a:ext cx="2148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Client-side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runs in the browser: private inputs never leave the user</a:t>
            </a:r>
          </a:p>
        </p:txBody>
      </p:sp>
      <p:sp>
        <p:nvSpPr>
          <p:cNvPr id="600" name="Slide number"/>
          <p:cNvSpPr txBox="1"/>
          <p:nvPr/>
        </p:nvSpPr>
        <p:spPr>
          <a:xfrm>
            <a:off x="7863840" y="475488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fld id="{B6F15528-21DE-4FAA-801E-634DDDAF4B2B}" type="slidenum"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11</a:t>
            </a:fld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/13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pic>
        <p:nvPicPr>
          <p:cNvPr id="589" name="Google Shape;589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053" y="4231524"/>
            <a:ext cx="699747" cy="699724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72"/>
          <p:cNvSpPr/>
          <p:nvPr/>
        </p:nvSpPr>
        <p:spPr>
          <a:xfrm>
            <a:off x="288325" y="530725"/>
            <a:ext cx="43800" cy="6723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72"/>
          <p:cNvSpPr txBox="1"/>
          <p:nvPr/>
        </p:nvSpPr>
        <p:spPr>
          <a:xfrm>
            <a:off x="332125" y="574375"/>
            <a:ext cx="6590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ko" sz="2600">
                <a:solidFill>
                  <a:srgbClr val="06182C"/>
                </a:solidFill>
                <a:latin typeface="Rubik"/>
                <a:ea typeface="Rubik"/>
                <a:cs typeface="Rubik"/>
                <a:sym typeface="Rubik"/>
              </a:rPr>
              <a:t>PLONK vs Groth16</a:t>
            </a:r>
            <a:endParaRPr b="0" i="0" sz="2600" u="none" cap="none" strike="noStrike">
              <a:solidFill>
                <a:srgbClr val="06182C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592" name="PLONK header"/>
          <p:cNvSpPr/>
          <p:nvPr/>
        </p:nvSpPr>
        <p:spPr>
          <a:xfrm>
            <a:off x="2286000" y="1188720"/>
            <a:ext cx="3154680" cy="411480"/>
          </a:xfrm>
          <a:prstGeom prst="roundRect">
            <a:avLst>
              <a:gd name="adj" fmla="val 13333"/>
            </a:avLst>
          </a:prstGeom>
          <a:solidFill>
            <a:srgbClr val="31B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oth16 header"/>
          <p:cNvSpPr/>
          <p:nvPr/>
        </p:nvSpPr>
        <p:spPr>
          <a:xfrm>
            <a:off x="5532120" y="1188720"/>
            <a:ext cx="3154680" cy="411480"/>
          </a:xfrm>
          <a:prstGeom prst="roundRect">
            <a:avLst>
              <a:gd name="adj" fmla="val 13333"/>
            </a:avLst>
          </a:prstGeom>
          <a:solidFill>
            <a:srgbClr val="398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TextBox 593"/>
          <p:cNvSpPr txBox="1"/>
          <p:nvPr/>
        </p:nvSpPr>
        <p:spPr>
          <a:xfrm>
            <a:off x="2286000" y="118872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PLONK</a:t>
            </a:r>
          </a:p>
        </p:txBody>
      </p:sp>
      <p:sp>
        <p:nvSpPr>
          <p:cNvPr id="595" name="TextBox 594"/>
          <p:cNvSpPr txBox="1"/>
          <p:nvPr/>
        </p:nvSpPr>
        <p:spPr>
          <a:xfrm>
            <a:off x="5532120" y="118872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Rubik"/>
                <a:ea typeface="Rubik"/>
                <a:cs typeface="Rubik"/>
              </a:rPr>
              <a:t>Groth16</a:t>
            </a:r>
          </a:p>
        </p:txBody>
      </p:sp>
      <p:sp>
        <p:nvSpPr>
          <p:cNvPr id="596" name="Trusted setup row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566928" y="1691640"/>
            <a:ext cx="15179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Trusted setup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2395728" y="169164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universal (phase 1 only)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5641848" y="169164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circuit specific (phase 1 + 2)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566928" y="2057400"/>
            <a:ext cx="15179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Proof size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2395728" y="205740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bigger: 9 points + 6 field el.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5641848" y="205740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smaller: 3 points</a:t>
            </a:r>
          </a:p>
        </p:txBody>
      </p:sp>
      <p:sp>
        <p:nvSpPr>
          <p:cNvPr id="603" name="Proving time row"/>
          <p:cNvSpPr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TextBox 603"/>
          <p:cNvSpPr txBox="1"/>
          <p:nvPr/>
        </p:nvSpPr>
        <p:spPr>
          <a:xfrm>
            <a:off x="566928" y="2423160"/>
            <a:ext cx="15179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Proving time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2395728" y="242316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longer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5641848" y="242316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shorter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566928" y="2788920"/>
            <a:ext cx="15179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Verification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2395728" y="278892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longer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5641848" y="2788920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shorter</a:t>
            </a:r>
          </a:p>
        </p:txBody>
      </p:sp>
      <p:sp>
        <p:nvSpPr>
          <p:cNvPr id="610" name="New circuit row"/>
          <p:cNvSpPr/>
          <p:nvPr/>
        </p:nvSpPr>
        <p:spPr>
          <a:xfrm>
            <a:off x="457200" y="3154679"/>
            <a:ext cx="8229600" cy="365760"/>
          </a:xfrm>
          <a:prstGeom prst="rect">
            <a:avLst/>
          </a:prstGeom>
          <a:solidFill>
            <a:srgbClr val="EE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TextBox 610"/>
          <p:cNvSpPr txBox="1"/>
          <p:nvPr/>
        </p:nvSpPr>
        <p:spPr>
          <a:xfrm>
            <a:off x="566928" y="3154679"/>
            <a:ext cx="15179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New circuit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2395728" y="3154679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reuse the same .ptau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5641848" y="3154679"/>
            <a:ext cx="29352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new phase 2 ceremony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822960" y="361188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3986F7"/>
                </a:solidFill>
                <a:latin typeface="Rubik"/>
                <a:ea typeface="Rubik"/>
                <a:cs typeface="Rubik"/>
              </a:rPr>
              <a:t>Groth16</a:t>
            </a: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: many proofs for the same circuit, performance critical.   </a:t>
            </a:r>
            <a:r>
              <a:rPr sz="1100" b="1" i="0">
                <a:solidFill>
                  <a:srgbClr val="31B5FF"/>
                </a:solidFill>
                <a:latin typeface="Rubik"/>
                <a:ea typeface="Rubik"/>
                <a:cs typeface="Rubik"/>
              </a:rPr>
              <a:t>PLONK</a:t>
            </a:r>
            <a:r>
              <a:rPr sz="1100" b="0" i="0">
                <a:solidFill>
                  <a:srgbClr val="06182C"/>
                </a:solidFill>
                <a:latin typeface="Rubik"/>
                <a:ea typeface="Rubik"/>
                <a:cs typeface="Rubik"/>
              </a:rPr>
              <a:t>: many different circuits (arbitrary business logic) with reasonably fast performance.</a:t>
            </a:r>
          </a:p>
        </p:txBody>
      </p:sp>
      <p:sp>
        <p:nvSpPr>
          <p:cNvPr id="615" name="Slide number"/>
          <p:cNvSpPr txBox="1"/>
          <p:nvPr/>
        </p:nvSpPr>
        <p:spPr>
          <a:xfrm>
            <a:off x="7863840" y="475488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fld id="{B6F15528-21DE-4FAA-801E-634DDDAF4B2B}" type="slidenum"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12</a:t>
            </a:fld>
            <a:r>
              <a:rPr sz="1000" b="0" i="0">
                <a:solidFill>
                  <a:srgbClr val="44546A"/>
                </a:solidFill>
                <a:latin typeface="Rubik"/>
                <a:ea typeface="Rubik"/>
                <a:cs typeface="Rubik"/>
              </a:rPr>
              <a:t>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PTMON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